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5" r:id="rId6"/>
    <p:sldId id="27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075A46-4E73-468D-8C06-F291047D844E}" type="doc">
      <dgm:prSet loTypeId="urn:microsoft.com/office/officeart/2005/8/layout/vProcess5" loCatId="process" qsTypeId="urn:microsoft.com/office/officeart/2005/8/quickstyle/simple3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675D31D-EA72-4E85-BD65-D9D5EE652D4A}">
      <dgm:prSet/>
      <dgm:spPr/>
      <dgm:t>
        <a:bodyPr/>
        <a:lstStyle/>
        <a:p>
          <a:r>
            <a:rPr lang="en-US" i="0" baseline="0"/>
            <a:t>Posting 3-5 times per week boosts engagement across all platforms. </a:t>
          </a:r>
          <a:endParaRPr lang="en-US"/>
        </a:p>
      </dgm:t>
    </dgm:pt>
    <dgm:pt modelId="{F9653708-B042-4832-A59E-4D8A75484B61}" type="parTrans" cxnId="{2BAE6771-85C5-4869-87C8-F6BF8A60E2D0}">
      <dgm:prSet/>
      <dgm:spPr/>
      <dgm:t>
        <a:bodyPr/>
        <a:lstStyle/>
        <a:p>
          <a:endParaRPr lang="en-US"/>
        </a:p>
      </dgm:t>
    </dgm:pt>
    <dgm:pt modelId="{76DA8A26-D5FC-447F-8313-4D279B79D2EB}" type="sibTrans" cxnId="{2BAE6771-85C5-4869-87C8-F6BF8A60E2D0}">
      <dgm:prSet/>
      <dgm:spPr/>
      <dgm:t>
        <a:bodyPr/>
        <a:lstStyle/>
        <a:p>
          <a:endParaRPr lang="en-US"/>
        </a:p>
      </dgm:t>
    </dgm:pt>
    <dgm:pt modelId="{D3EB7251-E2CA-4DB4-B012-2674B8FD8DF6}">
      <dgm:prSet/>
      <dgm:spPr/>
      <dgm:t>
        <a:bodyPr/>
        <a:lstStyle/>
        <a:p>
          <a:r>
            <a:rPr lang="en-US" i="0" baseline="0"/>
            <a:t>Inconsistent posting leads to engagement drops. </a:t>
          </a:r>
          <a:endParaRPr lang="en-US"/>
        </a:p>
      </dgm:t>
    </dgm:pt>
    <dgm:pt modelId="{AA0F3170-22C4-4C67-9A3E-F09548DF899C}" type="parTrans" cxnId="{552086FA-6C34-4816-9531-CC836E914A30}">
      <dgm:prSet/>
      <dgm:spPr/>
      <dgm:t>
        <a:bodyPr/>
        <a:lstStyle/>
        <a:p>
          <a:endParaRPr lang="en-US"/>
        </a:p>
      </dgm:t>
    </dgm:pt>
    <dgm:pt modelId="{29C62CFE-7899-42AB-823A-1EFE23E2BEAB}" type="sibTrans" cxnId="{552086FA-6C34-4816-9531-CC836E914A30}">
      <dgm:prSet/>
      <dgm:spPr/>
      <dgm:t>
        <a:bodyPr/>
        <a:lstStyle/>
        <a:p>
          <a:endParaRPr lang="en-US"/>
        </a:p>
      </dgm:t>
    </dgm:pt>
    <dgm:pt modelId="{CF377192-C0C0-474D-A814-A06FDD24B7A5}">
      <dgm:prSet/>
      <dgm:spPr/>
      <dgm:t>
        <a:bodyPr/>
        <a:lstStyle/>
        <a:p>
          <a:r>
            <a:rPr lang="en-US" i="0" baseline="0"/>
            <a:t>Different platforms have unique engagement trends, requiring platform-specific strategies. </a:t>
          </a:r>
          <a:endParaRPr lang="en-US"/>
        </a:p>
      </dgm:t>
    </dgm:pt>
    <dgm:pt modelId="{D4EFF645-D1A0-4D64-B292-98E95431FDD9}" type="parTrans" cxnId="{D6EB0B5B-EFA0-462A-9334-A8041247FABC}">
      <dgm:prSet/>
      <dgm:spPr/>
      <dgm:t>
        <a:bodyPr/>
        <a:lstStyle/>
        <a:p>
          <a:endParaRPr lang="en-US"/>
        </a:p>
      </dgm:t>
    </dgm:pt>
    <dgm:pt modelId="{38E74887-6B54-4B9F-B651-36BA1C17BBCA}" type="sibTrans" cxnId="{D6EB0B5B-EFA0-462A-9334-A8041247FABC}">
      <dgm:prSet/>
      <dgm:spPr/>
      <dgm:t>
        <a:bodyPr/>
        <a:lstStyle/>
        <a:p>
          <a:endParaRPr lang="en-US"/>
        </a:p>
      </dgm:t>
    </dgm:pt>
    <dgm:pt modelId="{46FB8B8F-B80E-40F9-A3FA-7204C03FDBB2}" type="pres">
      <dgm:prSet presAssocID="{B7075A46-4E73-468D-8C06-F291047D844E}" presName="outerComposite" presStyleCnt="0">
        <dgm:presLayoutVars>
          <dgm:chMax val="5"/>
          <dgm:dir/>
          <dgm:resizeHandles val="exact"/>
        </dgm:presLayoutVars>
      </dgm:prSet>
      <dgm:spPr/>
    </dgm:pt>
    <dgm:pt modelId="{5B95EC7E-4330-4800-B5FA-45D493FEC477}" type="pres">
      <dgm:prSet presAssocID="{B7075A46-4E73-468D-8C06-F291047D844E}" presName="dummyMaxCanvas" presStyleCnt="0">
        <dgm:presLayoutVars/>
      </dgm:prSet>
      <dgm:spPr/>
    </dgm:pt>
    <dgm:pt modelId="{F9E2F568-E38C-455E-BCAD-FA65568300CA}" type="pres">
      <dgm:prSet presAssocID="{B7075A46-4E73-468D-8C06-F291047D844E}" presName="ThreeNodes_1" presStyleLbl="node1" presStyleIdx="0" presStyleCnt="3">
        <dgm:presLayoutVars>
          <dgm:bulletEnabled val="1"/>
        </dgm:presLayoutVars>
      </dgm:prSet>
      <dgm:spPr/>
    </dgm:pt>
    <dgm:pt modelId="{61DDADFC-3C6A-4A9C-9B19-F90450E33DC1}" type="pres">
      <dgm:prSet presAssocID="{B7075A46-4E73-468D-8C06-F291047D844E}" presName="ThreeNodes_2" presStyleLbl="node1" presStyleIdx="1" presStyleCnt="3">
        <dgm:presLayoutVars>
          <dgm:bulletEnabled val="1"/>
        </dgm:presLayoutVars>
      </dgm:prSet>
      <dgm:spPr/>
    </dgm:pt>
    <dgm:pt modelId="{693DABB2-9530-4D5F-B7E3-1DEFC65E8BAD}" type="pres">
      <dgm:prSet presAssocID="{B7075A46-4E73-468D-8C06-F291047D844E}" presName="ThreeNodes_3" presStyleLbl="node1" presStyleIdx="2" presStyleCnt="3">
        <dgm:presLayoutVars>
          <dgm:bulletEnabled val="1"/>
        </dgm:presLayoutVars>
      </dgm:prSet>
      <dgm:spPr/>
    </dgm:pt>
    <dgm:pt modelId="{AF7EAF4A-AA09-4D1C-8E07-4C2E71EBABD2}" type="pres">
      <dgm:prSet presAssocID="{B7075A46-4E73-468D-8C06-F291047D844E}" presName="ThreeConn_1-2" presStyleLbl="fgAccFollowNode1" presStyleIdx="0" presStyleCnt="2">
        <dgm:presLayoutVars>
          <dgm:bulletEnabled val="1"/>
        </dgm:presLayoutVars>
      </dgm:prSet>
      <dgm:spPr/>
    </dgm:pt>
    <dgm:pt modelId="{C9F284B2-5163-4579-8C59-EEF9934D42F7}" type="pres">
      <dgm:prSet presAssocID="{B7075A46-4E73-468D-8C06-F291047D844E}" presName="ThreeConn_2-3" presStyleLbl="fgAccFollowNode1" presStyleIdx="1" presStyleCnt="2">
        <dgm:presLayoutVars>
          <dgm:bulletEnabled val="1"/>
        </dgm:presLayoutVars>
      </dgm:prSet>
      <dgm:spPr/>
    </dgm:pt>
    <dgm:pt modelId="{537DEA01-8C32-4CC3-B33A-996D13D931B2}" type="pres">
      <dgm:prSet presAssocID="{B7075A46-4E73-468D-8C06-F291047D844E}" presName="ThreeNodes_1_text" presStyleLbl="node1" presStyleIdx="2" presStyleCnt="3">
        <dgm:presLayoutVars>
          <dgm:bulletEnabled val="1"/>
        </dgm:presLayoutVars>
      </dgm:prSet>
      <dgm:spPr/>
    </dgm:pt>
    <dgm:pt modelId="{E3FC437B-4BA8-4BA1-8B5A-E21D3211BD50}" type="pres">
      <dgm:prSet presAssocID="{B7075A46-4E73-468D-8C06-F291047D844E}" presName="ThreeNodes_2_text" presStyleLbl="node1" presStyleIdx="2" presStyleCnt="3">
        <dgm:presLayoutVars>
          <dgm:bulletEnabled val="1"/>
        </dgm:presLayoutVars>
      </dgm:prSet>
      <dgm:spPr/>
    </dgm:pt>
    <dgm:pt modelId="{B4345F4C-2F7A-4F1D-A25E-C5C213078DFD}" type="pres">
      <dgm:prSet presAssocID="{B7075A46-4E73-468D-8C06-F291047D844E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48529D04-5B95-499D-832F-ED060832F4BF}" type="presOf" srcId="{B7075A46-4E73-468D-8C06-F291047D844E}" destId="{46FB8B8F-B80E-40F9-A3FA-7204C03FDBB2}" srcOrd="0" destOrd="0" presId="urn:microsoft.com/office/officeart/2005/8/layout/vProcess5"/>
    <dgm:cxn modelId="{8F9F5E0B-561E-4F35-B200-31A699EFF10C}" type="presOf" srcId="{4675D31D-EA72-4E85-BD65-D9D5EE652D4A}" destId="{537DEA01-8C32-4CC3-B33A-996D13D931B2}" srcOrd="1" destOrd="0" presId="urn:microsoft.com/office/officeart/2005/8/layout/vProcess5"/>
    <dgm:cxn modelId="{E6B42314-9EF5-4FB0-9CBC-FC82576B8F58}" type="presOf" srcId="{76DA8A26-D5FC-447F-8313-4D279B79D2EB}" destId="{AF7EAF4A-AA09-4D1C-8E07-4C2E71EBABD2}" srcOrd="0" destOrd="0" presId="urn:microsoft.com/office/officeart/2005/8/layout/vProcess5"/>
    <dgm:cxn modelId="{8A777519-6D49-4297-A6CE-B21253D95808}" type="presOf" srcId="{D3EB7251-E2CA-4DB4-B012-2674B8FD8DF6}" destId="{61DDADFC-3C6A-4A9C-9B19-F90450E33DC1}" srcOrd="0" destOrd="0" presId="urn:microsoft.com/office/officeart/2005/8/layout/vProcess5"/>
    <dgm:cxn modelId="{7BA95B29-3F65-4013-8944-AC1722FB30C1}" type="presOf" srcId="{4675D31D-EA72-4E85-BD65-D9D5EE652D4A}" destId="{F9E2F568-E38C-455E-BCAD-FA65568300CA}" srcOrd="0" destOrd="0" presId="urn:microsoft.com/office/officeart/2005/8/layout/vProcess5"/>
    <dgm:cxn modelId="{9862543C-11E1-4635-86C1-F720E157EBA9}" type="presOf" srcId="{D3EB7251-E2CA-4DB4-B012-2674B8FD8DF6}" destId="{E3FC437B-4BA8-4BA1-8B5A-E21D3211BD50}" srcOrd="1" destOrd="0" presId="urn:microsoft.com/office/officeart/2005/8/layout/vProcess5"/>
    <dgm:cxn modelId="{D6EB0B5B-EFA0-462A-9334-A8041247FABC}" srcId="{B7075A46-4E73-468D-8C06-F291047D844E}" destId="{CF377192-C0C0-474D-A814-A06FDD24B7A5}" srcOrd="2" destOrd="0" parTransId="{D4EFF645-D1A0-4D64-B292-98E95431FDD9}" sibTransId="{38E74887-6B54-4B9F-B651-36BA1C17BBCA}"/>
    <dgm:cxn modelId="{3883186E-B26F-4CE9-BCED-17F533FBBFC9}" type="presOf" srcId="{29C62CFE-7899-42AB-823A-1EFE23E2BEAB}" destId="{C9F284B2-5163-4579-8C59-EEF9934D42F7}" srcOrd="0" destOrd="0" presId="urn:microsoft.com/office/officeart/2005/8/layout/vProcess5"/>
    <dgm:cxn modelId="{2BAE6771-85C5-4869-87C8-F6BF8A60E2D0}" srcId="{B7075A46-4E73-468D-8C06-F291047D844E}" destId="{4675D31D-EA72-4E85-BD65-D9D5EE652D4A}" srcOrd="0" destOrd="0" parTransId="{F9653708-B042-4832-A59E-4D8A75484B61}" sibTransId="{76DA8A26-D5FC-447F-8313-4D279B79D2EB}"/>
    <dgm:cxn modelId="{1352D58F-61E9-4729-81B3-CBE2F7C73284}" type="presOf" srcId="{CF377192-C0C0-474D-A814-A06FDD24B7A5}" destId="{B4345F4C-2F7A-4F1D-A25E-C5C213078DFD}" srcOrd="1" destOrd="0" presId="urn:microsoft.com/office/officeart/2005/8/layout/vProcess5"/>
    <dgm:cxn modelId="{127F09DD-09D8-47B1-B849-13E7164E9810}" type="presOf" srcId="{CF377192-C0C0-474D-A814-A06FDD24B7A5}" destId="{693DABB2-9530-4D5F-B7E3-1DEFC65E8BAD}" srcOrd="0" destOrd="0" presId="urn:microsoft.com/office/officeart/2005/8/layout/vProcess5"/>
    <dgm:cxn modelId="{552086FA-6C34-4816-9531-CC836E914A30}" srcId="{B7075A46-4E73-468D-8C06-F291047D844E}" destId="{D3EB7251-E2CA-4DB4-B012-2674B8FD8DF6}" srcOrd="1" destOrd="0" parTransId="{AA0F3170-22C4-4C67-9A3E-F09548DF899C}" sibTransId="{29C62CFE-7899-42AB-823A-1EFE23E2BEAB}"/>
    <dgm:cxn modelId="{A47386FE-3F80-4AEC-B216-15C61E3FACA4}" type="presParOf" srcId="{46FB8B8F-B80E-40F9-A3FA-7204C03FDBB2}" destId="{5B95EC7E-4330-4800-B5FA-45D493FEC477}" srcOrd="0" destOrd="0" presId="urn:microsoft.com/office/officeart/2005/8/layout/vProcess5"/>
    <dgm:cxn modelId="{324E57DF-632B-4AD6-B336-2804646A12A9}" type="presParOf" srcId="{46FB8B8F-B80E-40F9-A3FA-7204C03FDBB2}" destId="{F9E2F568-E38C-455E-BCAD-FA65568300CA}" srcOrd="1" destOrd="0" presId="urn:microsoft.com/office/officeart/2005/8/layout/vProcess5"/>
    <dgm:cxn modelId="{46682CC8-26AC-4D74-992D-D4673706BDE0}" type="presParOf" srcId="{46FB8B8F-B80E-40F9-A3FA-7204C03FDBB2}" destId="{61DDADFC-3C6A-4A9C-9B19-F90450E33DC1}" srcOrd="2" destOrd="0" presId="urn:microsoft.com/office/officeart/2005/8/layout/vProcess5"/>
    <dgm:cxn modelId="{28500D07-29E4-497A-980C-1EEE614CE359}" type="presParOf" srcId="{46FB8B8F-B80E-40F9-A3FA-7204C03FDBB2}" destId="{693DABB2-9530-4D5F-B7E3-1DEFC65E8BAD}" srcOrd="3" destOrd="0" presId="urn:microsoft.com/office/officeart/2005/8/layout/vProcess5"/>
    <dgm:cxn modelId="{67E42DA1-DA35-467A-A767-A6DAE7C56229}" type="presParOf" srcId="{46FB8B8F-B80E-40F9-A3FA-7204C03FDBB2}" destId="{AF7EAF4A-AA09-4D1C-8E07-4C2E71EBABD2}" srcOrd="4" destOrd="0" presId="urn:microsoft.com/office/officeart/2005/8/layout/vProcess5"/>
    <dgm:cxn modelId="{6B7DB8C4-7A6B-4E93-9C1D-191A2E463920}" type="presParOf" srcId="{46FB8B8F-B80E-40F9-A3FA-7204C03FDBB2}" destId="{C9F284B2-5163-4579-8C59-EEF9934D42F7}" srcOrd="5" destOrd="0" presId="urn:microsoft.com/office/officeart/2005/8/layout/vProcess5"/>
    <dgm:cxn modelId="{036C07B9-A85D-40D6-A502-FB1D80AEFDC8}" type="presParOf" srcId="{46FB8B8F-B80E-40F9-A3FA-7204C03FDBB2}" destId="{537DEA01-8C32-4CC3-B33A-996D13D931B2}" srcOrd="6" destOrd="0" presId="urn:microsoft.com/office/officeart/2005/8/layout/vProcess5"/>
    <dgm:cxn modelId="{0A6AAD6A-2559-4A50-B2B6-874E70A729B3}" type="presParOf" srcId="{46FB8B8F-B80E-40F9-A3FA-7204C03FDBB2}" destId="{E3FC437B-4BA8-4BA1-8B5A-E21D3211BD50}" srcOrd="7" destOrd="0" presId="urn:microsoft.com/office/officeart/2005/8/layout/vProcess5"/>
    <dgm:cxn modelId="{BD26C1BD-70E0-4B1A-9BB6-BE54D09A594A}" type="presParOf" srcId="{46FB8B8F-B80E-40F9-A3FA-7204C03FDBB2}" destId="{B4345F4C-2F7A-4F1D-A25E-C5C213078DFD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BA19F40-488F-4AD5-85F1-A754D9ECA9EC}" type="doc">
      <dgm:prSet loTypeId="urn:microsoft.com/office/officeart/2016/7/layout/BasicLinearProcessNumbered" loCatId="process" qsTypeId="urn:microsoft.com/office/officeart/2005/8/quickstyle/simple3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5363EC5-3937-4A2B-8F51-5E311F7B76B9}">
      <dgm:prSet/>
      <dgm:spPr/>
      <dgm:t>
        <a:bodyPr/>
        <a:lstStyle/>
        <a:p>
          <a:r>
            <a:rPr lang="en-US" i="0" baseline="0"/>
            <a:t>Follower count does not strongly correlate with conversion rates. </a:t>
          </a:r>
          <a:endParaRPr lang="en-US"/>
        </a:p>
      </dgm:t>
    </dgm:pt>
    <dgm:pt modelId="{87BDBD4F-792B-47B7-8761-40DDE8C07342}" type="parTrans" cxnId="{10ABE840-3B83-45A7-9270-6D174CC00E6E}">
      <dgm:prSet/>
      <dgm:spPr/>
      <dgm:t>
        <a:bodyPr/>
        <a:lstStyle/>
        <a:p>
          <a:endParaRPr lang="en-US"/>
        </a:p>
      </dgm:t>
    </dgm:pt>
    <dgm:pt modelId="{F7C6F968-C72C-47F1-A4D8-CCF27102C61C}" type="sibTrans" cxnId="{10ABE840-3B83-45A7-9270-6D174CC00E6E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3E8CDCBE-6595-4FD3-A692-0FAFB3D82A4B}">
      <dgm:prSet/>
      <dgm:spPr/>
      <dgm:t>
        <a:bodyPr/>
        <a:lstStyle/>
        <a:p>
          <a:r>
            <a:rPr lang="en-US" i="0" baseline="0"/>
            <a:t>Engagement levels have a bigger impact on conversions than followers. </a:t>
          </a:r>
          <a:endParaRPr lang="en-US"/>
        </a:p>
      </dgm:t>
    </dgm:pt>
    <dgm:pt modelId="{9484325F-4134-4F38-9F1C-5D8A32A97E9E}" type="parTrans" cxnId="{6442AE18-A232-4B8B-8448-464EC41EB150}">
      <dgm:prSet/>
      <dgm:spPr/>
      <dgm:t>
        <a:bodyPr/>
        <a:lstStyle/>
        <a:p>
          <a:endParaRPr lang="en-US"/>
        </a:p>
      </dgm:t>
    </dgm:pt>
    <dgm:pt modelId="{62A5ACC0-C249-4DC9-B860-262E32CAD778}" type="sibTrans" cxnId="{6442AE18-A232-4B8B-8448-464EC41EB150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854C5B98-6D02-4309-A579-018C202D8A8F}">
      <dgm:prSet/>
      <dgm:spPr/>
      <dgm:t>
        <a:bodyPr/>
        <a:lstStyle/>
        <a:p>
          <a:r>
            <a:rPr lang="en-US" i="0" baseline="0"/>
            <a:t>Some low-follower accounts outperform high-follower accounts in conversions. </a:t>
          </a:r>
          <a:endParaRPr lang="en-US"/>
        </a:p>
      </dgm:t>
    </dgm:pt>
    <dgm:pt modelId="{5B3A27C3-6C88-4D40-A00D-F3936151E8E3}" type="parTrans" cxnId="{EE305BBB-528D-4DA7-83AC-7C4CECA2AEFE}">
      <dgm:prSet/>
      <dgm:spPr/>
      <dgm:t>
        <a:bodyPr/>
        <a:lstStyle/>
        <a:p>
          <a:endParaRPr lang="en-US"/>
        </a:p>
      </dgm:t>
    </dgm:pt>
    <dgm:pt modelId="{001B3517-6B89-454B-AC2C-95476A41AD74}" type="sibTrans" cxnId="{EE305BBB-528D-4DA7-83AC-7C4CECA2AEFE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439B183B-6DAB-472C-BBA2-B4C623ADC2EC}" type="pres">
      <dgm:prSet presAssocID="{DBA19F40-488F-4AD5-85F1-A754D9ECA9EC}" presName="Name0" presStyleCnt="0">
        <dgm:presLayoutVars>
          <dgm:animLvl val="lvl"/>
          <dgm:resizeHandles val="exact"/>
        </dgm:presLayoutVars>
      </dgm:prSet>
      <dgm:spPr/>
    </dgm:pt>
    <dgm:pt modelId="{EE052B73-469A-446B-8C79-8AA8142EFDD4}" type="pres">
      <dgm:prSet presAssocID="{B5363EC5-3937-4A2B-8F51-5E311F7B76B9}" presName="compositeNode" presStyleCnt="0">
        <dgm:presLayoutVars>
          <dgm:bulletEnabled val="1"/>
        </dgm:presLayoutVars>
      </dgm:prSet>
      <dgm:spPr/>
    </dgm:pt>
    <dgm:pt modelId="{310EBF09-A2FB-4EF2-A044-CF514F1DEB22}" type="pres">
      <dgm:prSet presAssocID="{B5363EC5-3937-4A2B-8F51-5E311F7B76B9}" presName="bgRect" presStyleLbl="bgAccFollowNode1" presStyleIdx="0" presStyleCnt="3"/>
      <dgm:spPr/>
    </dgm:pt>
    <dgm:pt modelId="{5E365312-653E-4743-8228-D336938F4FC8}" type="pres">
      <dgm:prSet presAssocID="{F7C6F968-C72C-47F1-A4D8-CCF27102C61C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19D9B4D0-1B49-4DD2-8B67-64758F0E0F52}" type="pres">
      <dgm:prSet presAssocID="{B5363EC5-3937-4A2B-8F51-5E311F7B76B9}" presName="bottomLine" presStyleLbl="alignNode1" presStyleIdx="1" presStyleCnt="6">
        <dgm:presLayoutVars/>
      </dgm:prSet>
      <dgm:spPr/>
    </dgm:pt>
    <dgm:pt modelId="{738997C9-BAB0-4205-AE1B-DB0F075B57EA}" type="pres">
      <dgm:prSet presAssocID="{B5363EC5-3937-4A2B-8F51-5E311F7B76B9}" presName="nodeText" presStyleLbl="bgAccFollowNode1" presStyleIdx="0" presStyleCnt="3">
        <dgm:presLayoutVars>
          <dgm:bulletEnabled val="1"/>
        </dgm:presLayoutVars>
      </dgm:prSet>
      <dgm:spPr/>
    </dgm:pt>
    <dgm:pt modelId="{847F34E1-FDE5-4EC7-B125-5D48764D05DA}" type="pres">
      <dgm:prSet presAssocID="{F7C6F968-C72C-47F1-A4D8-CCF27102C61C}" presName="sibTrans" presStyleCnt="0"/>
      <dgm:spPr/>
    </dgm:pt>
    <dgm:pt modelId="{AD57A4CE-B8D4-48DE-B68F-64BEAED81F37}" type="pres">
      <dgm:prSet presAssocID="{3E8CDCBE-6595-4FD3-A692-0FAFB3D82A4B}" presName="compositeNode" presStyleCnt="0">
        <dgm:presLayoutVars>
          <dgm:bulletEnabled val="1"/>
        </dgm:presLayoutVars>
      </dgm:prSet>
      <dgm:spPr/>
    </dgm:pt>
    <dgm:pt modelId="{53C7855B-D00A-4ECA-9A93-E7063A25811A}" type="pres">
      <dgm:prSet presAssocID="{3E8CDCBE-6595-4FD3-A692-0FAFB3D82A4B}" presName="bgRect" presStyleLbl="bgAccFollowNode1" presStyleIdx="1" presStyleCnt="3"/>
      <dgm:spPr/>
    </dgm:pt>
    <dgm:pt modelId="{F0BBAE1A-EC04-4B0C-9EF6-728C8E6BAE53}" type="pres">
      <dgm:prSet presAssocID="{62A5ACC0-C249-4DC9-B860-262E32CAD778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4BA87C26-A6A0-4170-970D-D4B0E045B7D5}" type="pres">
      <dgm:prSet presAssocID="{3E8CDCBE-6595-4FD3-A692-0FAFB3D82A4B}" presName="bottomLine" presStyleLbl="alignNode1" presStyleIdx="3" presStyleCnt="6">
        <dgm:presLayoutVars/>
      </dgm:prSet>
      <dgm:spPr/>
    </dgm:pt>
    <dgm:pt modelId="{C647B1DF-B1A0-4B6D-A70D-9F87141983E1}" type="pres">
      <dgm:prSet presAssocID="{3E8CDCBE-6595-4FD3-A692-0FAFB3D82A4B}" presName="nodeText" presStyleLbl="bgAccFollowNode1" presStyleIdx="1" presStyleCnt="3">
        <dgm:presLayoutVars>
          <dgm:bulletEnabled val="1"/>
        </dgm:presLayoutVars>
      </dgm:prSet>
      <dgm:spPr/>
    </dgm:pt>
    <dgm:pt modelId="{7617CBCB-5236-44C1-9EC4-1A75EB01A781}" type="pres">
      <dgm:prSet presAssocID="{62A5ACC0-C249-4DC9-B860-262E32CAD778}" presName="sibTrans" presStyleCnt="0"/>
      <dgm:spPr/>
    </dgm:pt>
    <dgm:pt modelId="{731AC2E2-EFA8-43BA-BA15-BA32D4C8B7C2}" type="pres">
      <dgm:prSet presAssocID="{854C5B98-6D02-4309-A579-018C202D8A8F}" presName="compositeNode" presStyleCnt="0">
        <dgm:presLayoutVars>
          <dgm:bulletEnabled val="1"/>
        </dgm:presLayoutVars>
      </dgm:prSet>
      <dgm:spPr/>
    </dgm:pt>
    <dgm:pt modelId="{F6D6A18D-209C-4AA1-B7E1-E470AFA29CAE}" type="pres">
      <dgm:prSet presAssocID="{854C5B98-6D02-4309-A579-018C202D8A8F}" presName="bgRect" presStyleLbl="bgAccFollowNode1" presStyleIdx="2" presStyleCnt="3"/>
      <dgm:spPr/>
    </dgm:pt>
    <dgm:pt modelId="{8808EC96-86D6-4ED6-AD2B-194C07AF093F}" type="pres">
      <dgm:prSet presAssocID="{001B3517-6B89-454B-AC2C-95476A41AD74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36ECAC4C-FDBE-4590-A128-8B23B7AE8A67}" type="pres">
      <dgm:prSet presAssocID="{854C5B98-6D02-4309-A579-018C202D8A8F}" presName="bottomLine" presStyleLbl="alignNode1" presStyleIdx="5" presStyleCnt="6">
        <dgm:presLayoutVars/>
      </dgm:prSet>
      <dgm:spPr/>
    </dgm:pt>
    <dgm:pt modelId="{C0AA86A0-C390-4174-8C9F-A3219D633BF4}" type="pres">
      <dgm:prSet presAssocID="{854C5B98-6D02-4309-A579-018C202D8A8F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6442AE18-A232-4B8B-8448-464EC41EB150}" srcId="{DBA19F40-488F-4AD5-85F1-A754D9ECA9EC}" destId="{3E8CDCBE-6595-4FD3-A692-0FAFB3D82A4B}" srcOrd="1" destOrd="0" parTransId="{9484325F-4134-4F38-9F1C-5D8A32A97E9E}" sibTransId="{62A5ACC0-C249-4DC9-B860-262E32CAD778}"/>
    <dgm:cxn modelId="{10ABE840-3B83-45A7-9270-6D174CC00E6E}" srcId="{DBA19F40-488F-4AD5-85F1-A754D9ECA9EC}" destId="{B5363EC5-3937-4A2B-8F51-5E311F7B76B9}" srcOrd="0" destOrd="0" parTransId="{87BDBD4F-792B-47B7-8761-40DDE8C07342}" sibTransId="{F7C6F968-C72C-47F1-A4D8-CCF27102C61C}"/>
    <dgm:cxn modelId="{179AEA5D-AC72-4501-873D-82D53958249E}" type="presOf" srcId="{62A5ACC0-C249-4DC9-B860-262E32CAD778}" destId="{F0BBAE1A-EC04-4B0C-9EF6-728C8E6BAE53}" srcOrd="0" destOrd="0" presId="urn:microsoft.com/office/officeart/2016/7/layout/BasicLinearProcessNumbered"/>
    <dgm:cxn modelId="{83FAFC48-A1A3-417C-B752-204B60668BCD}" type="presOf" srcId="{854C5B98-6D02-4309-A579-018C202D8A8F}" destId="{F6D6A18D-209C-4AA1-B7E1-E470AFA29CAE}" srcOrd="0" destOrd="0" presId="urn:microsoft.com/office/officeart/2016/7/layout/BasicLinearProcessNumbered"/>
    <dgm:cxn modelId="{50CD104B-1215-4737-A82F-AA44A4E763BC}" type="presOf" srcId="{F7C6F968-C72C-47F1-A4D8-CCF27102C61C}" destId="{5E365312-653E-4743-8228-D336938F4FC8}" srcOrd="0" destOrd="0" presId="urn:microsoft.com/office/officeart/2016/7/layout/BasicLinearProcessNumbered"/>
    <dgm:cxn modelId="{E7F9FD4D-92C8-472E-AF77-9AF6F3B91237}" type="presOf" srcId="{854C5B98-6D02-4309-A579-018C202D8A8F}" destId="{C0AA86A0-C390-4174-8C9F-A3219D633BF4}" srcOrd="1" destOrd="0" presId="urn:microsoft.com/office/officeart/2016/7/layout/BasicLinearProcessNumbered"/>
    <dgm:cxn modelId="{DA544180-CD38-48EF-9347-2E3478B0467E}" type="presOf" srcId="{B5363EC5-3937-4A2B-8F51-5E311F7B76B9}" destId="{738997C9-BAB0-4205-AE1B-DB0F075B57EA}" srcOrd="1" destOrd="0" presId="urn:microsoft.com/office/officeart/2016/7/layout/BasicLinearProcessNumbered"/>
    <dgm:cxn modelId="{27D839A9-8FD2-4F75-8F55-8FAAB8786C04}" type="presOf" srcId="{3E8CDCBE-6595-4FD3-A692-0FAFB3D82A4B}" destId="{53C7855B-D00A-4ECA-9A93-E7063A25811A}" srcOrd="0" destOrd="0" presId="urn:microsoft.com/office/officeart/2016/7/layout/BasicLinearProcessNumbered"/>
    <dgm:cxn modelId="{4DFBCCB7-0871-4DE4-8D73-0638F7D7EE52}" type="presOf" srcId="{3E8CDCBE-6595-4FD3-A692-0FAFB3D82A4B}" destId="{C647B1DF-B1A0-4B6D-A70D-9F87141983E1}" srcOrd="1" destOrd="0" presId="urn:microsoft.com/office/officeart/2016/7/layout/BasicLinearProcessNumbered"/>
    <dgm:cxn modelId="{EE305BBB-528D-4DA7-83AC-7C4CECA2AEFE}" srcId="{DBA19F40-488F-4AD5-85F1-A754D9ECA9EC}" destId="{854C5B98-6D02-4309-A579-018C202D8A8F}" srcOrd="2" destOrd="0" parTransId="{5B3A27C3-6C88-4D40-A00D-F3936151E8E3}" sibTransId="{001B3517-6B89-454B-AC2C-95476A41AD74}"/>
    <dgm:cxn modelId="{E9987CC8-8086-49EF-8698-9F43E6B4EF7C}" type="presOf" srcId="{B5363EC5-3937-4A2B-8F51-5E311F7B76B9}" destId="{310EBF09-A2FB-4EF2-A044-CF514F1DEB22}" srcOrd="0" destOrd="0" presId="urn:microsoft.com/office/officeart/2016/7/layout/BasicLinearProcessNumbered"/>
    <dgm:cxn modelId="{DE2B18EE-151F-4503-85C4-7DBB02423266}" type="presOf" srcId="{DBA19F40-488F-4AD5-85F1-A754D9ECA9EC}" destId="{439B183B-6DAB-472C-BBA2-B4C623ADC2EC}" srcOrd="0" destOrd="0" presId="urn:microsoft.com/office/officeart/2016/7/layout/BasicLinearProcessNumbered"/>
    <dgm:cxn modelId="{84796CF1-A25A-4543-8132-A4D710354BD4}" type="presOf" srcId="{001B3517-6B89-454B-AC2C-95476A41AD74}" destId="{8808EC96-86D6-4ED6-AD2B-194C07AF093F}" srcOrd="0" destOrd="0" presId="urn:microsoft.com/office/officeart/2016/7/layout/BasicLinearProcessNumbered"/>
    <dgm:cxn modelId="{4FFBAC07-5385-4875-9E29-E37094B933A5}" type="presParOf" srcId="{439B183B-6DAB-472C-BBA2-B4C623ADC2EC}" destId="{EE052B73-469A-446B-8C79-8AA8142EFDD4}" srcOrd="0" destOrd="0" presId="urn:microsoft.com/office/officeart/2016/7/layout/BasicLinearProcessNumbered"/>
    <dgm:cxn modelId="{5DE844F5-397D-4BDE-BA92-E346A95D2815}" type="presParOf" srcId="{EE052B73-469A-446B-8C79-8AA8142EFDD4}" destId="{310EBF09-A2FB-4EF2-A044-CF514F1DEB22}" srcOrd="0" destOrd="0" presId="urn:microsoft.com/office/officeart/2016/7/layout/BasicLinearProcessNumbered"/>
    <dgm:cxn modelId="{D5C21D5D-D225-4320-BDE3-4642A0E77181}" type="presParOf" srcId="{EE052B73-469A-446B-8C79-8AA8142EFDD4}" destId="{5E365312-653E-4743-8228-D336938F4FC8}" srcOrd="1" destOrd="0" presId="urn:microsoft.com/office/officeart/2016/7/layout/BasicLinearProcessNumbered"/>
    <dgm:cxn modelId="{FAB3191B-2E80-41D1-A4F5-3F89EEFD9CB5}" type="presParOf" srcId="{EE052B73-469A-446B-8C79-8AA8142EFDD4}" destId="{19D9B4D0-1B49-4DD2-8B67-64758F0E0F52}" srcOrd="2" destOrd="0" presId="urn:microsoft.com/office/officeart/2016/7/layout/BasicLinearProcessNumbered"/>
    <dgm:cxn modelId="{42ECF423-6C36-45E6-8D8D-FE0368DC066C}" type="presParOf" srcId="{EE052B73-469A-446B-8C79-8AA8142EFDD4}" destId="{738997C9-BAB0-4205-AE1B-DB0F075B57EA}" srcOrd="3" destOrd="0" presId="urn:microsoft.com/office/officeart/2016/7/layout/BasicLinearProcessNumbered"/>
    <dgm:cxn modelId="{A5C6BE24-9C20-4E91-B6F6-2C7FB63F90A4}" type="presParOf" srcId="{439B183B-6DAB-472C-BBA2-B4C623ADC2EC}" destId="{847F34E1-FDE5-4EC7-B125-5D48764D05DA}" srcOrd="1" destOrd="0" presId="urn:microsoft.com/office/officeart/2016/7/layout/BasicLinearProcessNumbered"/>
    <dgm:cxn modelId="{F9A8D47D-1391-44CE-B453-411487CE382B}" type="presParOf" srcId="{439B183B-6DAB-472C-BBA2-B4C623ADC2EC}" destId="{AD57A4CE-B8D4-48DE-B68F-64BEAED81F37}" srcOrd="2" destOrd="0" presId="urn:microsoft.com/office/officeart/2016/7/layout/BasicLinearProcessNumbered"/>
    <dgm:cxn modelId="{D2A2D51C-E115-460B-A438-F840EA05A3CF}" type="presParOf" srcId="{AD57A4CE-B8D4-48DE-B68F-64BEAED81F37}" destId="{53C7855B-D00A-4ECA-9A93-E7063A25811A}" srcOrd="0" destOrd="0" presId="urn:microsoft.com/office/officeart/2016/7/layout/BasicLinearProcessNumbered"/>
    <dgm:cxn modelId="{11689D1D-C307-424E-91CC-BA85CD2C37B7}" type="presParOf" srcId="{AD57A4CE-B8D4-48DE-B68F-64BEAED81F37}" destId="{F0BBAE1A-EC04-4B0C-9EF6-728C8E6BAE53}" srcOrd="1" destOrd="0" presId="urn:microsoft.com/office/officeart/2016/7/layout/BasicLinearProcessNumbered"/>
    <dgm:cxn modelId="{688AFDD3-1EDD-44A0-8841-2DA55A6D4325}" type="presParOf" srcId="{AD57A4CE-B8D4-48DE-B68F-64BEAED81F37}" destId="{4BA87C26-A6A0-4170-970D-D4B0E045B7D5}" srcOrd="2" destOrd="0" presId="urn:microsoft.com/office/officeart/2016/7/layout/BasicLinearProcessNumbered"/>
    <dgm:cxn modelId="{172F57D9-B991-4252-9C0B-441D33CADA51}" type="presParOf" srcId="{AD57A4CE-B8D4-48DE-B68F-64BEAED81F37}" destId="{C647B1DF-B1A0-4B6D-A70D-9F87141983E1}" srcOrd="3" destOrd="0" presId="urn:microsoft.com/office/officeart/2016/7/layout/BasicLinearProcessNumbered"/>
    <dgm:cxn modelId="{F2B00B9E-1010-45EA-8020-C88F8A50B840}" type="presParOf" srcId="{439B183B-6DAB-472C-BBA2-B4C623ADC2EC}" destId="{7617CBCB-5236-44C1-9EC4-1A75EB01A781}" srcOrd="3" destOrd="0" presId="urn:microsoft.com/office/officeart/2016/7/layout/BasicLinearProcessNumbered"/>
    <dgm:cxn modelId="{4AC4ABDA-8358-4786-9403-1B6BCC13D47D}" type="presParOf" srcId="{439B183B-6DAB-472C-BBA2-B4C623ADC2EC}" destId="{731AC2E2-EFA8-43BA-BA15-BA32D4C8B7C2}" srcOrd="4" destOrd="0" presId="urn:microsoft.com/office/officeart/2016/7/layout/BasicLinearProcessNumbered"/>
    <dgm:cxn modelId="{D8F2BAB5-5391-4788-9120-E180898041E4}" type="presParOf" srcId="{731AC2E2-EFA8-43BA-BA15-BA32D4C8B7C2}" destId="{F6D6A18D-209C-4AA1-B7E1-E470AFA29CAE}" srcOrd="0" destOrd="0" presId="urn:microsoft.com/office/officeart/2016/7/layout/BasicLinearProcessNumbered"/>
    <dgm:cxn modelId="{DFFC6D9C-1B90-4A08-95E6-814F9EA33B03}" type="presParOf" srcId="{731AC2E2-EFA8-43BA-BA15-BA32D4C8B7C2}" destId="{8808EC96-86D6-4ED6-AD2B-194C07AF093F}" srcOrd="1" destOrd="0" presId="urn:microsoft.com/office/officeart/2016/7/layout/BasicLinearProcessNumbered"/>
    <dgm:cxn modelId="{7CD8C478-9176-4CCB-8E1E-CE083E591B6B}" type="presParOf" srcId="{731AC2E2-EFA8-43BA-BA15-BA32D4C8B7C2}" destId="{36ECAC4C-FDBE-4590-A128-8B23B7AE8A67}" srcOrd="2" destOrd="0" presId="urn:microsoft.com/office/officeart/2016/7/layout/BasicLinearProcessNumbered"/>
    <dgm:cxn modelId="{4EB50F0A-9F13-4501-B960-6FBF9D0EB83D}" type="presParOf" srcId="{731AC2E2-EFA8-43BA-BA15-BA32D4C8B7C2}" destId="{C0AA86A0-C390-4174-8C9F-A3219D633BF4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674561F-E12E-4FF2-8067-F89BE2DBEC1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F03D4FE-0D39-4DF4-83C9-0FF2C59CC2F1}">
      <dgm:prSet/>
      <dgm:spPr/>
      <dgm:t>
        <a:bodyPr/>
        <a:lstStyle/>
        <a:p>
          <a:r>
            <a:rPr lang="en-US" i="0" baseline="0"/>
            <a:t>Demonstrating interactive elements in Power BI </a:t>
          </a:r>
          <a:endParaRPr lang="en-US"/>
        </a:p>
      </dgm:t>
    </dgm:pt>
    <dgm:pt modelId="{62753BBC-2F72-4AF0-BDA9-5FDA08D433A2}" type="parTrans" cxnId="{4C927A5F-DC1E-42B8-ADB8-109DAECDFE9A}">
      <dgm:prSet/>
      <dgm:spPr/>
      <dgm:t>
        <a:bodyPr/>
        <a:lstStyle/>
        <a:p>
          <a:endParaRPr lang="en-US"/>
        </a:p>
      </dgm:t>
    </dgm:pt>
    <dgm:pt modelId="{F75E16C6-54A8-4CDE-978A-77650BA8C4C8}" type="sibTrans" cxnId="{4C927A5F-DC1E-42B8-ADB8-109DAECDFE9A}">
      <dgm:prSet/>
      <dgm:spPr/>
      <dgm:t>
        <a:bodyPr/>
        <a:lstStyle/>
        <a:p>
          <a:endParaRPr lang="en-US"/>
        </a:p>
      </dgm:t>
    </dgm:pt>
    <dgm:pt modelId="{6B635B95-0200-4983-87BE-C702F64DBDB4}">
      <dgm:prSet/>
      <dgm:spPr/>
      <dgm:t>
        <a:bodyPr/>
        <a:lstStyle/>
        <a:p>
          <a:r>
            <a:rPr lang="en-US" i="0" baseline="0"/>
            <a:t>Exploring slicers, filters, and drill-through features </a:t>
          </a:r>
          <a:endParaRPr lang="en-US"/>
        </a:p>
      </dgm:t>
    </dgm:pt>
    <dgm:pt modelId="{468D72B4-41A1-4F9A-9297-C08AC98CB782}" type="parTrans" cxnId="{C179E234-2E1B-4D80-B46D-D1AE430DC59A}">
      <dgm:prSet/>
      <dgm:spPr/>
      <dgm:t>
        <a:bodyPr/>
        <a:lstStyle/>
        <a:p>
          <a:endParaRPr lang="en-US"/>
        </a:p>
      </dgm:t>
    </dgm:pt>
    <dgm:pt modelId="{07396103-6B61-4C3F-8FDF-999DB45D8A62}" type="sibTrans" cxnId="{C179E234-2E1B-4D80-B46D-D1AE430DC59A}">
      <dgm:prSet/>
      <dgm:spPr/>
      <dgm:t>
        <a:bodyPr/>
        <a:lstStyle/>
        <a:p>
          <a:endParaRPr lang="en-US"/>
        </a:p>
      </dgm:t>
    </dgm:pt>
    <dgm:pt modelId="{9CE42DE2-8380-4861-A1DC-C2763ECB98DD}">
      <dgm:prSet/>
      <dgm:spPr/>
      <dgm:t>
        <a:bodyPr/>
        <a:lstStyle/>
        <a:p>
          <a:r>
            <a:rPr lang="en-US" i="0" baseline="0"/>
            <a:t>Live walkthrough of dynamic visualizations</a:t>
          </a:r>
          <a:endParaRPr lang="en-US"/>
        </a:p>
      </dgm:t>
    </dgm:pt>
    <dgm:pt modelId="{FA6EED6F-177C-4676-AE31-B210A55CF666}" type="parTrans" cxnId="{8958C428-C040-49AB-B1EE-EBC7A1429326}">
      <dgm:prSet/>
      <dgm:spPr/>
      <dgm:t>
        <a:bodyPr/>
        <a:lstStyle/>
        <a:p>
          <a:endParaRPr lang="en-US"/>
        </a:p>
      </dgm:t>
    </dgm:pt>
    <dgm:pt modelId="{589D71F1-79FD-4A7F-9EDD-B863F87F25BC}" type="sibTrans" cxnId="{8958C428-C040-49AB-B1EE-EBC7A1429326}">
      <dgm:prSet/>
      <dgm:spPr/>
      <dgm:t>
        <a:bodyPr/>
        <a:lstStyle/>
        <a:p>
          <a:endParaRPr lang="en-US"/>
        </a:p>
      </dgm:t>
    </dgm:pt>
    <dgm:pt modelId="{736AD1E3-269E-47BC-A216-01EF83DF40B0}" type="pres">
      <dgm:prSet presAssocID="{2674561F-E12E-4FF2-8067-F89BE2DBEC19}" presName="root" presStyleCnt="0">
        <dgm:presLayoutVars>
          <dgm:dir/>
          <dgm:resizeHandles val="exact"/>
        </dgm:presLayoutVars>
      </dgm:prSet>
      <dgm:spPr/>
    </dgm:pt>
    <dgm:pt modelId="{11047F9B-582E-4E6B-8867-8466B2DC74C2}" type="pres">
      <dgm:prSet presAssocID="{7F03D4FE-0D39-4DF4-83C9-0FF2C59CC2F1}" presName="compNode" presStyleCnt="0"/>
      <dgm:spPr/>
    </dgm:pt>
    <dgm:pt modelId="{E1EDD448-C7B3-45B7-B074-B740E4520352}" type="pres">
      <dgm:prSet presAssocID="{7F03D4FE-0D39-4DF4-83C9-0FF2C59CC2F1}" presName="bgRect" presStyleLbl="bgShp" presStyleIdx="0" presStyleCnt="3"/>
      <dgm:spPr/>
    </dgm:pt>
    <dgm:pt modelId="{6837B95E-C8A0-40D1-9261-7CD836FCBF76}" type="pres">
      <dgm:prSet presAssocID="{7F03D4FE-0D39-4DF4-83C9-0FF2C59CC2F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94ACE493-C4A7-4BA6-A78B-2A3E5DFB7084}" type="pres">
      <dgm:prSet presAssocID="{7F03D4FE-0D39-4DF4-83C9-0FF2C59CC2F1}" presName="spaceRect" presStyleCnt="0"/>
      <dgm:spPr/>
    </dgm:pt>
    <dgm:pt modelId="{7CC48BFE-313E-4CB3-8E0E-BDC5AC6A53C1}" type="pres">
      <dgm:prSet presAssocID="{7F03D4FE-0D39-4DF4-83C9-0FF2C59CC2F1}" presName="parTx" presStyleLbl="revTx" presStyleIdx="0" presStyleCnt="3">
        <dgm:presLayoutVars>
          <dgm:chMax val="0"/>
          <dgm:chPref val="0"/>
        </dgm:presLayoutVars>
      </dgm:prSet>
      <dgm:spPr/>
    </dgm:pt>
    <dgm:pt modelId="{CFECF541-E0D6-48A6-9E1B-F59D3A821570}" type="pres">
      <dgm:prSet presAssocID="{F75E16C6-54A8-4CDE-978A-77650BA8C4C8}" presName="sibTrans" presStyleCnt="0"/>
      <dgm:spPr/>
    </dgm:pt>
    <dgm:pt modelId="{0956FC04-4AEB-45E1-A9F8-068E923DB53B}" type="pres">
      <dgm:prSet presAssocID="{6B635B95-0200-4983-87BE-C702F64DBDB4}" presName="compNode" presStyleCnt="0"/>
      <dgm:spPr/>
    </dgm:pt>
    <dgm:pt modelId="{76F4C021-5076-4853-8D82-9F6AF545EC3A}" type="pres">
      <dgm:prSet presAssocID="{6B635B95-0200-4983-87BE-C702F64DBDB4}" presName="bgRect" presStyleLbl="bgShp" presStyleIdx="1" presStyleCnt="3"/>
      <dgm:spPr/>
    </dgm:pt>
    <dgm:pt modelId="{1B7D2A25-1324-44F2-A186-C05EC6DA43C6}" type="pres">
      <dgm:prSet presAssocID="{6B635B95-0200-4983-87BE-C702F64DBDB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BBABE44C-B950-4B93-9B72-E9152236AD77}" type="pres">
      <dgm:prSet presAssocID="{6B635B95-0200-4983-87BE-C702F64DBDB4}" presName="spaceRect" presStyleCnt="0"/>
      <dgm:spPr/>
    </dgm:pt>
    <dgm:pt modelId="{BC16C4A8-B2E6-467C-A582-6008BB057191}" type="pres">
      <dgm:prSet presAssocID="{6B635B95-0200-4983-87BE-C702F64DBDB4}" presName="parTx" presStyleLbl="revTx" presStyleIdx="1" presStyleCnt="3">
        <dgm:presLayoutVars>
          <dgm:chMax val="0"/>
          <dgm:chPref val="0"/>
        </dgm:presLayoutVars>
      </dgm:prSet>
      <dgm:spPr/>
    </dgm:pt>
    <dgm:pt modelId="{6FB9AEA8-19CC-437F-8750-4DD32CEFE8F6}" type="pres">
      <dgm:prSet presAssocID="{07396103-6B61-4C3F-8FDF-999DB45D8A62}" presName="sibTrans" presStyleCnt="0"/>
      <dgm:spPr/>
    </dgm:pt>
    <dgm:pt modelId="{E72CB86A-423B-40F5-9BB8-0F53BA6B5414}" type="pres">
      <dgm:prSet presAssocID="{9CE42DE2-8380-4861-A1DC-C2763ECB98DD}" presName="compNode" presStyleCnt="0"/>
      <dgm:spPr/>
    </dgm:pt>
    <dgm:pt modelId="{81CC04D6-4811-4760-BBA8-7E26BAF0DF78}" type="pres">
      <dgm:prSet presAssocID="{9CE42DE2-8380-4861-A1DC-C2763ECB98DD}" presName="bgRect" presStyleLbl="bgShp" presStyleIdx="2" presStyleCnt="3"/>
      <dgm:spPr/>
    </dgm:pt>
    <dgm:pt modelId="{B1384A4F-24DF-40D9-975F-0ED4F31C96BE}" type="pres">
      <dgm:prSet presAssocID="{9CE42DE2-8380-4861-A1DC-C2763ECB98D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E7E829A-0417-4BD7-8595-122F99DF627C}" type="pres">
      <dgm:prSet presAssocID="{9CE42DE2-8380-4861-A1DC-C2763ECB98DD}" presName="spaceRect" presStyleCnt="0"/>
      <dgm:spPr/>
    </dgm:pt>
    <dgm:pt modelId="{2BCB7E35-DEC1-4D03-8096-D7E5063939F2}" type="pres">
      <dgm:prSet presAssocID="{9CE42DE2-8380-4861-A1DC-C2763ECB98D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68EB410-DC26-46BA-9016-DC2EF980C3FF}" type="presOf" srcId="{7F03D4FE-0D39-4DF4-83C9-0FF2C59CC2F1}" destId="{7CC48BFE-313E-4CB3-8E0E-BDC5AC6A53C1}" srcOrd="0" destOrd="0" presId="urn:microsoft.com/office/officeart/2018/2/layout/IconVerticalSolidList"/>
    <dgm:cxn modelId="{8958C428-C040-49AB-B1EE-EBC7A1429326}" srcId="{2674561F-E12E-4FF2-8067-F89BE2DBEC19}" destId="{9CE42DE2-8380-4861-A1DC-C2763ECB98DD}" srcOrd="2" destOrd="0" parTransId="{FA6EED6F-177C-4676-AE31-B210A55CF666}" sibTransId="{589D71F1-79FD-4A7F-9EDD-B863F87F25BC}"/>
    <dgm:cxn modelId="{C179E234-2E1B-4D80-B46D-D1AE430DC59A}" srcId="{2674561F-E12E-4FF2-8067-F89BE2DBEC19}" destId="{6B635B95-0200-4983-87BE-C702F64DBDB4}" srcOrd="1" destOrd="0" parTransId="{468D72B4-41A1-4F9A-9297-C08AC98CB782}" sibTransId="{07396103-6B61-4C3F-8FDF-999DB45D8A62}"/>
    <dgm:cxn modelId="{CAB82E3E-0100-4141-8D17-8B80C73EC3F8}" type="presOf" srcId="{6B635B95-0200-4983-87BE-C702F64DBDB4}" destId="{BC16C4A8-B2E6-467C-A582-6008BB057191}" srcOrd="0" destOrd="0" presId="urn:microsoft.com/office/officeart/2018/2/layout/IconVerticalSolidList"/>
    <dgm:cxn modelId="{4C927A5F-DC1E-42B8-ADB8-109DAECDFE9A}" srcId="{2674561F-E12E-4FF2-8067-F89BE2DBEC19}" destId="{7F03D4FE-0D39-4DF4-83C9-0FF2C59CC2F1}" srcOrd="0" destOrd="0" parTransId="{62753BBC-2F72-4AF0-BDA9-5FDA08D433A2}" sibTransId="{F75E16C6-54A8-4CDE-978A-77650BA8C4C8}"/>
    <dgm:cxn modelId="{E4A3A3D7-8030-4399-8875-D745393D5156}" type="presOf" srcId="{2674561F-E12E-4FF2-8067-F89BE2DBEC19}" destId="{736AD1E3-269E-47BC-A216-01EF83DF40B0}" srcOrd="0" destOrd="0" presId="urn:microsoft.com/office/officeart/2018/2/layout/IconVerticalSolidList"/>
    <dgm:cxn modelId="{EC9CB2E5-8CBD-42DB-9AE5-AD736A977BE3}" type="presOf" srcId="{9CE42DE2-8380-4861-A1DC-C2763ECB98DD}" destId="{2BCB7E35-DEC1-4D03-8096-D7E5063939F2}" srcOrd="0" destOrd="0" presId="urn:microsoft.com/office/officeart/2018/2/layout/IconVerticalSolidList"/>
    <dgm:cxn modelId="{1EC6DFE6-8504-4E2B-BEBB-28D36BE20A1A}" type="presParOf" srcId="{736AD1E3-269E-47BC-A216-01EF83DF40B0}" destId="{11047F9B-582E-4E6B-8867-8466B2DC74C2}" srcOrd="0" destOrd="0" presId="urn:microsoft.com/office/officeart/2018/2/layout/IconVerticalSolidList"/>
    <dgm:cxn modelId="{73063A39-D1C2-4E91-8504-C1DC4B58C00B}" type="presParOf" srcId="{11047F9B-582E-4E6B-8867-8466B2DC74C2}" destId="{E1EDD448-C7B3-45B7-B074-B740E4520352}" srcOrd="0" destOrd="0" presId="urn:microsoft.com/office/officeart/2018/2/layout/IconVerticalSolidList"/>
    <dgm:cxn modelId="{706D835E-1A25-4EC0-93BA-0E0F278DECCF}" type="presParOf" srcId="{11047F9B-582E-4E6B-8867-8466B2DC74C2}" destId="{6837B95E-C8A0-40D1-9261-7CD836FCBF76}" srcOrd="1" destOrd="0" presId="urn:microsoft.com/office/officeart/2018/2/layout/IconVerticalSolidList"/>
    <dgm:cxn modelId="{3CC573CB-40D2-4D9B-A0A4-666D58DC0560}" type="presParOf" srcId="{11047F9B-582E-4E6B-8867-8466B2DC74C2}" destId="{94ACE493-C4A7-4BA6-A78B-2A3E5DFB7084}" srcOrd="2" destOrd="0" presId="urn:microsoft.com/office/officeart/2018/2/layout/IconVerticalSolidList"/>
    <dgm:cxn modelId="{09EB5CFA-5294-4D8B-AD54-DC8327B83FD4}" type="presParOf" srcId="{11047F9B-582E-4E6B-8867-8466B2DC74C2}" destId="{7CC48BFE-313E-4CB3-8E0E-BDC5AC6A53C1}" srcOrd="3" destOrd="0" presId="urn:microsoft.com/office/officeart/2018/2/layout/IconVerticalSolidList"/>
    <dgm:cxn modelId="{AD9423A2-58F3-4900-A870-594FBDAEDA18}" type="presParOf" srcId="{736AD1E3-269E-47BC-A216-01EF83DF40B0}" destId="{CFECF541-E0D6-48A6-9E1B-F59D3A821570}" srcOrd="1" destOrd="0" presId="urn:microsoft.com/office/officeart/2018/2/layout/IconVerticalSolidList"/>
    <dgm:cxn modelId="{B1E11037-1DA1-4E5E-B6EF-45D9299F65C5}" type="presParOf" srcId="{736AD1E3-269E-47BC-A216-01EF83DF40B0}" destId="{0956FC04-4AEB-45E1-A9F8-068E923DB53B}" srcOrd="2" destOrd="0" presId="urn:microsoft.com/office/officeart/2018/2/layout/IconVerticalSolidList"/>
    <dgm:cxn modelId="{1537CEE0-A919-4D79-B404-7B9C2BAC0759}" type="presParOf" srcId="{0956FC04-4AEB-45E1-A9F8-068E923DB53B}" destId="{76F4C021-5076-4853-8D82-9F6AF545EC3A}" srcOrd="0" destOrd="0" presId="urn:microsoft.com/office/officeart/2018/2/layout/IconVerticalSolidList"/>
    <dgm:cxn modelId="{9D57F078-0773-4618-926A-328C53DBA68C}" type="presParOf" srcId="{0956FC04-4AEB-45E1-A9F8-068E923DB53B}" destId="{1B7D2A25-1324-44F2-A186-C05EC6DA43C6}" srcOrd="1" destOrd="0" presId="urn:microsoft.com/office/officeart/2018/2/layout/IconVerticalSolidList"/>
    <dgm:cxn modelId="{E093EEC2-E712-4D97-9394-33D415FF3DB6}" type="presParOf" srcId="{0956FC04-4AEB-45E1-A9F8-068E923DB53B}" destId="{BBABE44C-B950-4B93-9B72-E9152236AD77}" srcOrd="2" destOrd="0" presId="urn:microsoft.com/office/officeart/2018/2/layout/IconVerticalSolidList"/>
    <dgm:cxn modelId="{974FCCA6-6B6B-40BA-91DF-8DEAF2E869D0}" type="presParOf" srcId="{0956FC04-4AEB-45E1-A9F8-068E923DB53B}" destId="{BC16C4A8-B2E6-467C-A582-6008BB057191}" srcOrd="3" destOrd="0" presId="urn:microsoft.com/office/officeart/2018/2/layout/IconVerticalSolidList"/>
    <dgm:cxn modelId="{45E10C27-E020-426F-8D13-242501A7555C}" type="presParOf" srcId="{736AD1E3-269E-47BC-A216-01EF83DF40B0}" destId="{6FB9AEA8-19CC-437F-8750-4DD32CEFE8F6}" srcOrd="3" destOrd="0" presId="urn:microsoft.com/office/officeart/2018/2/layout/IconVerticalSolidList"/>
    <dgm:cxn modelId="{1DCA191A-016B-4F7D-9F8A-52F321033DBE}" type="presParOf" srcId="{736AD1E3-269E-47BC-A216-01EF83DF40B0}" destId="{E72CB86A-423B-40F5-9BB8-0F53BA6B5414}" srcOrd="4" destOrd="0" presId="urn:microsoft.com/office/officeart/2018/2/layout/IconVerticalSolidList"/>
    <dgm:cxn modelId="{2396B8CE-269C-49BE-B2B0-ABA1B4387E6E}" type="presParOf" srcId="{E72CB86A-423B-40F5-9BB8-0F53BA6B5414}" destId="{81CC04D6-4811-4760-BBA8-7E26BAF0DF78}" srcOrd="0" destOrd="0" presId="urn:microsoft.com/office/officeart/2018/2/layout/IconVerticalSolidList"/>
    <dgm:cxn modelId="{B9255F4D-E144-4718-BD07-3A20C649F82F}" type="presParOf" srcId="{E72CB86A-423B-40F5-9BB8-0F53BA6B5414}" destId="{B1384A4F-24DF-40D9-975F-0ED4F31C96BE}" srcOrd="1" destOrd="0" presId="urn:microsoft.com/office/officeart/2018/2/layout/IconVerticalSolidList"/>
    <dgm:cxn modelId="{2BC1EDA5-0794-4F04-8182-3E92FF251DEE}" type="presParOf" srcId="{E72CB86A-423B-40F5-9BB8-0F53BA6B5414}" destId="{4E7E829A-0417-4BD7-8595-122F99DF627C}" srcOrd="2" destOrd="0" presId="urn:microsoft.com/office/officeart/2018/2/layout/IconVerticalSolidList"/>
    <dgm:cxn modelId="{C913185C-6E2B-46C7-A445-2748ABC06337}" type="presParOf" srcId="{E72CB86A-423B-40F5-9BB8-0F53BA6B5414}" destId="{2BCB7E35-DEC1-4D03-8096-D7E5063939F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E2F568-E38C-455E-BCAD-FA65568300CA}">
      <dsp:nvSpPr>
        <dsp:cNvPr id="0" name=""/>
        <dsp:cNvSpPr/>
      </dsp:nvSpPr>
      <dsp:spPr>
        <a:xfrm>
          <a:off x="0" y="0"/>
          <a:ext cx="5260385" cy="16228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i="0" kern="1200" baseline="0"/>
            <a:t>Posting 3-5 times per week boosts engagement across all platforms. </a:t>
          </a:r>
          <a:endParaRPr lang="en-US" sz="2100" kern="1200"/>
        </a:p>
      </dsp:txBody>
      <dsp:txXfrm>
        <a:off x="47530" y="47530"/>
        <a:ext cx="3509257" cy="1527740"/>
      </dsp:txXfrm>
    </dsp:sp>
    <dsp:sp modelId="{61DDADFC-3C6A-4A9C-9B19-F90450E33DC1}">
      <dsp:nvSpPr>
        <dsp:cNvPr id="0" name=""/>
        <dsp:cNvSpPr/>
      </dsp:nvSpPr>
      <dsp:spPr>
        <a:xfrm>
          <a:off x="464151" y="1893267"/>
          <a:ext cx="5260385" cy="16228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3397140"/>
                <a:satOff val="-14713"/>
                <a:lumOff val="1225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3397140"/>
                <a:satOff val="-14713"/>
                <a:lumOff val="1225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3397140"/>
                <a:satOff val="-14713"/>
                <a:lumOff val="1225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i="0" kern="1200" baseline="0"/>
            <a:t>Inconsistent posting leads to engagement drops. </a:t>
          </a:r>
          <a:endParaRPr lang="en-US" sz="2100" kern="1200"/>
        </a:p>
      </dsp:txBody>
      <dsp:txXfrm>
        <a:off x="511681" y="1940797"/>
        <a:ext cx="3646353" cy="1527740"/>
      </dsp:txXfrm>
    </dsp:sp>
    <dsp:sp modelId="{693DABB2-9530-4D5F-B7E3-1DEFC65E8BAD}">
      <dsp:nvSpPr>
        <dsp:cNvPr id="0" name=""/>
        <dsp:cNvSpPr/>
      </dsp:nvSpPr>
      <dsp:spPr>
        <a:xfrm>
          <a:off x="928303" y="3786535"/>
          <a:ext cx="5260385" cy="16228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6794280"/>
                <a:satOff val="-29426"/>
                <a:lumOff val="2451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6794280"/>
                <a:satOff val="-29426"/>
                <a:lumOff val="2451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6794280"/>
                <a:satOff val="-29426"/>
                <a:lumOff val="2451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i="0" kern="1200" baseline="0"/>
            <a:t>Different platforms have unique engagement trends, requiring platform-specific strategies. </a:t>
          </a:r>
          <a:endParaRPr lang="en-US" sz="2100" kern="1200"/>
        </a:p>
      </dsp:txBody>
      <dsp:txXfrm>
        <a:off x="975833" y="3834065"/>
        <a:ext cx="3646353" cy="1527740"/>
      </dsp:txXfrm>
    </dsp:sp>
    <dsp:sp modelId="{AF7EAF4A-AA09-4D1C-8E07-4C2E71EBABD2}">
      <dsp:nvSpPr>
        <dsp:cNvPr id="0" name=""/>
        <dsp:cNvSpPr/>
      </dsp:nvSpPr>
      <dsp:spPr>
        <a:xfrm>
          <a:off x="4205565" y="1230623"/>
          <a:ext cx="1054820" cy="105482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442900" y="1230623"/>
        <a:ext cx="580151" cy="793752"/>
      </dsp:txXfrm>
    </dsp:sp>
    <dsp:sp modelId="{C9F284B2-5163-4579-8C59-EEF9934D42F7}">
      <dsp:nvSpPr>
        <dsp:cNvPr id="0" name=""/>
        <dsp:cNvSpPr/>
      </dsp:nvSpPr>
      <dsp:spPr>
        <a:xfrm>
          <a:off x="4669716" y="3113072"/>
          <a:ext cx="1054820" cy="105482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633838"/>
            <a:satOff val="-3671"/>
            <a:lumOff val="433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6633838"/>
              <a:satOff val="-3671"/>
              <a:lumOff val="433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907051" y="3113072"/>
        <a:ext cx="580151" cy="7937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0EBF09-A2FB-4EF2-A044-CF514F1DEB22}">
      <dsp:nvSpPr>
        <dsp:cNvPr id="0" name=""/>
        <dsp:cNvSpPr/>
      </dsp:nvSpPr>
      <dsp:spPr>
        <a:xfrm>
          <a:off x="0" y="0"/>
          <a:ext cx="3352601" cy="358775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382" tIns="330200" rIns="261382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i="0" kern="1200" baseline="0"/>
            <a:t>Follower count does not strongly correlate with conversion rates. </a:t>
          </a:r>
          <a:endParaRPr lang="en-US" sz="2100" kern="1200"/>
        </a:p>
      </dsp:txBody>
      <dsp:txXfrm>
        <a:off x="0" y="1363345"/>
        <a:ext cx="3352601" cy="2152650"/>
      </dsp:txXfrm>
    </dsp:sp>
    <dsp:sp modelId="{5E365312-653E-4743-8228-D336938F4FC8}">
      <dsp:nvSpPr>
        <dsp:cNvPr id="0" name=""/>
        <dsp:cNvSpPr/>
      </dsp:nvSpPr>
      <dsp:spPr>
        <a:xfrm>
          <a:off x="1138138" y="358774"/>
          <a:ext cx="1076325" cy="1076325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914" tIns="12700" rIns="8391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295762" y="516398"/>
        <a:ext cx="761077" cy="761077"/>
      </dsp:txXfrm>
    </dsp:sp>
    <dsp:sp modelId="{19D9B4D0-1B49-4DD2-8B67-64758F0E0F52}">
      <dsp:nvSpPr>
        <dsp:cNvPr id="0" name=""/>
        <dsp:cNvSpPr/>
      </dsp:nvSpPr>
      <dsp:spPr>
        <a:xfrm>
          <a:off x="0" y="3587678"/>
          <a:ext cx="3352601" cy="7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3C7855B-D00A-4ECA-9A93-E7063A25811A}">
      <dsp:nvSpPr>
        <dsp:cNvPr id="0" name=""/>
        <dsp:cNvSpPr/>
      </dsp:nvSpPr>
      <dsp:spPr>
        <a:xfrm>
          <a:off x="3687861" y="0"/>
          <a:ext cx="3352601" cy="358775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382" tIns="330200" rIns="261382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i="0" kern="1200" baseline="0"/>
            <a:t>Engagement levels have a bigger impact on conversions than followers. </a:t>
          </a:r>
          <a:endParaRPr lang="en-US" sz="2100" kern="1200"/>
        </a:p>
      </dsp:txBody>
      <dsp:txXfrm>
        <a:off x="3687861" y="1363345"/>
        <a:ext cx="3352601" cy="2152650"/>
      </dsp:txXfrm>
    </dsp:sp>
    <dsp:sp modelId="{F0BBAE1A-EC04-4B0C-9EF6-728C8E6BAE53}">
      <dsp:nvSpPr>
        <dsp:cNvPr id="0" name=""/>
        <dsp:cNvSpPr/>
      </dsp:nvSpPr>
      <dsp:spPr>
        <a:xfrm>
          <a:off x="4825999" y="358774"/>
          <a:ext cx="1076325" cy="1076325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914" tIns="12700" rIns="8391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983623" y="516398"/>
        <a:ext cx="761077" cy="761077"/>
      </dsp:txXfrm>
    </dsp:sp>
    <dsp:sp modelId="{4BA87C26-A6A0-4170-970D-D4B0E045B7D5}">
      <dsp:nvSpPr>
        <dsp:cNvPr id="0" name=""/>
        <dsp:cNvSpPr/>
      </dsp:nvSpPr>
      <dsp:spPr>
        <a:xfrm>
          <a:off x="3687861" y="3587678"/>
          <a:ext cx="3352601" cy="72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6D6A18D-209C-4AA1-B7E1-E470AFA29CAE}">
      <dsp:nvSpPr>
        <dsp:cNvPr id="0" name=""/>
        <dsp:cNvSpPr/>
      </dsp:nvSpPr>
      <dsp:spPr>
        <a:xfrm>
          <a:off x="7375723" y="0"/>
          <a:ext cx="3352601" cy="358775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382" tIns="330200" rIns="261382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i="0" kern="1200" baseline="0"/>
            <a:t>Some low-follower accounts outperform high-follower accounts in conversions. </a:t>
          </a:r>
          <a:endParaRPr lang="en-US" sz="2100" kern="1200"/>
        </a:p>
      </dsp:txBody>
      <dsp:txXfrm>
        <a:off x="7375723" y="1363345"/>
        <a:ext cx="3352601" cy="2152650"/>
      </dsp:txXfrm>
    </dsp:sp>
    <dsp:sp modelId="{8808EC96-86D6-4ED6-AD2B-194C07AF093F}">
      <dsp:nvSpPr>
        <dsp:cNvPr id="0" name=""/>
        <dsp:cNvSpPr/>
      </dsp:nvSpPr>
      <dsp:spPr>
        <a:xfrm>
          <a:off x="8513861" y="358774"/>
          <a:ext cx="1076325" cy="1076325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914" tIns="12700" rIns="8391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671485" y="516398"/>
        <a:ext cx="761077" cy="761077"/>
      </dsp:txXfrm>
    </dsp:sp>
    <dsp:sp modelId="{36ECAC4C-FDBE-4590-A128-8B23B7AE8A67}">
      <dsp:nvSpPr>
        <dsp:cNvPr id="0" name=""/>
        <dsp:cNvSpPr/>
      </dsp:nvSpPr>
      <dsp:spPr>
        <a:xfrm>
          <a:off x="7375723" y="3587678"/>
          <a:ext cx="3352601" cy="7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EDD448-C7B3-45B7-B074-B740E4520352}">
      <dsp:nvSpPr>
        <dsp:cNvPr id="0" name=""/>
        <dsp:cNvSpPr/>
      </dsp:nvSpPr>
      <dsp:spPr>
        <a:xfrm>
          <a:off x="0" y="660"/>
          <a:ext cx="4293944" cy="15451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37B95E-C8A0-40D1-9261-7CD836FCBF76}">
      <dsp:nvSpPr>
        <dsp:cNvPr id="0" name=""/>
        <dsp:cNvSpPr/>
      </dsp:nvSpPr>
      <dsp:spPr>
        <a:xfrm>
          <a:off x="467407" y="348318"/>
          <a:ext cx="849831" cy="8498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C48BFE-313E-4CB3-8E0E-BDC5AC6A53C1}">
      <dsp:nvSpPr>
        <dsp:cNvPr id="0" name=""/>
        <dsp:cNvSpPr/>
      </dsp:nvSpPr>
      <dsp:spPr>
        <a:xfrm>
          <a:off x="1784645" y="660"/>
          <a:ext cx="2509298" cy="1545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28" tIns="163528" rIns="163528" bIns="16352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i="0" kern="1200" baseline="0"/>
            <a:t>Demonstrating interactive elements in Power BI </a:t>
          </a:r>
          <a:endParaRPr lang="en-US" sz="2000" kern="1200"/>
        </a:p>
      </dsp:txBody>
      <dsp:txXfrm>
        <a:off x="1784645" y="660"/>
        <a:ext cx="2509298" cy="1545147"/>
      </dsp:txXfrm>
    </dsp:sp>
    <dsp:sp modelId="{76F4C021-5076-4853-8D82-9F6AF545EC3A}">
      <dsp:nvSpPr>
        <dsp:cNvPr id="0" name=""/>
        <dsp:cNvSpPr/>
      </dsp:nvSpPr>
      <dsp:spPr>
        <a:xfrm>
          <a:off x="0" y="1932094"/>
          <a:ext cx="4293944" cy="15451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7D2A25-1324-44F2-A186-C05EC6DA43C6}">
      <dsp:nvSpPr>
        <dsp:cNvPr id="0" name=""/>
        <dsp:cNvSpPr/>
      </dsp:nvSpPr>
      <dsp:spPr>
        <a:xfrm>
          <a:off x="467407" y="2279752"/>
          <a:ext cx="849831" cy="8498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16C4A8-B2E6-467C-A582-6008BB057191}">
      <dsp:nvSpPr>
        <dsp:cNvPr id="0" name=""/>
        <dsp:cNvSpPr/>
      </dsp:nvSpPr>
      <dsp:spPr>
        <a:xfrm>
          <a:off x="1784645" y="1932094"/>
          <a:ext cx="2509298" cy="1545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28" tIns="163528" rIns="163528" bIns="16352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i="0" kern="1200" baseline="0"/>
            <a:t>Exploring slicers, filters, and drill-through features </a:t>
          </a:r>
          <a:endParaRPr lang="en-US" sz="2000" kern="1200"/>
        </a:p>
      </dsp:txBody>
      <dsp:txXfrm>
        <a:off x="1784645" y="1932094"/>
        <a:ext cx="2509298" cy="1545147"/>
      </dsp:txXfrm>
    </dsp:sp>
    <dsp:sp modelId="{81CC04D6-4811-4760-BBA8-7E26BAF0DF78}">
      <dsp:nvSpPr>
        <dsp:cNvPr id="0" name=""/>
        <dsp:cNvSpPr/>
      </dsp:nvSpPr>
      <dsp:spPr>
        <a:xfrm>
          <a:off x="0" y="3863529"/>
          <a:ext cx="4293944" cy="15451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384A4F-24DF-40D9-975F-0ED4F31C96BE}">
      <dsp:nvSpPr>
        <dsp:cNvPr id="0" name=""/>
        <dsp:cNvSpPr/>
      </dsp:nvSpPr>
      <dsp:spPr>
        <a:xfrm>
          <a:off x="467407" y="4211187"/>
          <a:ext cx="849831" cy="84983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CB7E35-DEC1-4D03-8096-D7E5063939F2}">
      <dsp:nvSpPr>
        <dsp:cNvPr id="0" name=""/>
        <dsp:cNvSpPr/>
      </dsp:nvSpPr>
      <dsp:spPr>
        <a:xfrm>
          <a:off x="1784645" y="3863529"/>
          <a:ext cx="2509298" cy="1545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28" tIns="163528" rIns="163528" bIns="16352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i="0" kern="1200" baseline="0"/>
            <a:t>Live walkthrough of dynamic visualizations</a:t>
          </a:r>
          <a:endParaRPr lang="en-US" sz="2000" kern="1200"/>
        </a:p>
      </dsp:txBody>
      <dsp:txXfrm>
        <a:off x="1784645" y="3863529"/>
        <a:ext cx="2509298" cy="15451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D386E6-6655-4948-997B-B862F078939B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CA420F-EA50-49D0-A5F5-CAC85D2D7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778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A420F-EA50-49D0-A5F5-CAC85D2D77C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735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0013" y="484479"/>
            <a:ext cx="6911974" cy="2954655"/>
          </a:xfrm>
        </p:spPr>
        <p:txBody>
          <a:bodyPr anchor="b">
            <a:normAutofit/>
          </a:bodyPr>
          <a:lstStyle>
            <a:lvl1pPr algn="ctr">
              <a:defRPr sz="5600" cap="all" spc="-1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0013" y="3799133"/>
            <a:ext cx="6911974" cy="1969841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395C5C9-164C-46B3-A87E-7660D39D3106}" type="datetime2">
              <a:rPr lang="en-US" smtClean="0"/>
              <a:t>Saturday, January 17,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42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0" y="2541600"/>
            <a:ext cx="10728325" cy="3227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4DDCFF8A-AAF8-4A12-8A91-9CA0EAF6CBB9}" type="datetime2">
              <a:rPr lang="en-US" smtClean="0"/>
              <a:t>Saturday, January 17,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311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6" cy="2879724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10" y="3858924"/>
            <a:ext cx="10728326" cy="1919076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ABCC25C3-021A-4B0B-8F70-0C181FE1CF45}" type="datetime2">
              <a:rPr lang="en-US" smtClean="0"/>
              <a:t>Saturday, January 17,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207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0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8400" y="2541600"/>
            <a:ext cx="5003801" cy="3234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C23D88D-8CEC-4ED9-A53B-5596187D9A16}" type="datetime2">
              <a:rPr lang="en-US" smtClean="0"/>
              <a:t>Saturday, January 17,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837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5" cy="673005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840698"/>
            <a:ext cx="5015638" cy="565796"/>
          </a:xfrm>
        </p:spPr>
        <p:txBody>
          <a:bodyPr wrap="square"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0000" y="2541600"/>
            <a:ext cx="5003801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400" y="1840698"/>
            <a:ext cx="5015638" cy="565796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4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D2CCD382-DFDA-4722-A27A-59C21AD112F2}" type="datetime2">
              <a:rPr lang="en-US" smtClean="0"/>
              <a:t>Saturday, January 17,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399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2F2A30D-1C09-413F-AAB1-38F366000715}" type="datetime2">
              <a:rPr lang="en-US" smtClean="0"/>
              <a:t>Saturday, January 17,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367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6DB82B9C-D65E-4F64-95C3-B10F3B00F0D9}" type="datetime2">
              <a:rPr lang="en-US" smtClean="0"/>
              <a:t>Saturday, January 17,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885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107463" cy="1477328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8188" y="584662"/>
            <a:ext cx="6911974" cy="518431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800"/>
            </a:lvl1pPr>
            <a:lvl2pPr marL="914400" indent="-457200"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107463" cy="32318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B7F5FDCC-6AAC-4A08-B9E0-3793AB5E64C3}" type="datetime2">
              <a:rPr lang="en-US" smtClean="0"/>
              <a:t>Saturday, January 17,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307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095626" cy="14760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8188" y="728664"/>
            <a:ext cx="6923812" cy="504031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095625" cy="3232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349FE94D-439C-40F1-900E-BC07940E3988}" type="datetime2">
              <a:rPr lang="en-US" smtClean="0"/>
              <a:t>Saturday, January 17,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130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0000" y="2636838"/>
            <a:ext cx="10728325" cy="31321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5B75179A-1E2B-41AB-B400-4F1B4022FAEE}" type="datetime2">
              <a:rPr lang="en-US" smtClean="0"/>
              <a:t>Saturday, January 17,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194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40486" y="720000"/>
            <a:ext cx="1477328" cy="5048975"/>
          </a:xfrm>
        </p:spPr>
        <p:txBody>
          <a:bodyPr vert="eaVert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838" y="720000"/>
            <a:ext cx="8929614" cy="5048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5681D0F-6595-4F14-8EF3-954CD87C797B}" type="datetime2">
              <a:rPr lang="en-US" smtClean="0"/>
              <a:t>Saturday, January 17,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653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646535-AEF6-4883-A4F9-EEC1F8B431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2541600"/>
            <a:ext cx="10728325" cy="32273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l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8DEA2CF1-0EB2-4673-802D-3371233E4A77}" type="datetime2">
              <a:rPr lang="en-US" smtClean="0"/>
              <a:t>Saturday, January 17,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ct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5799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2" r:id="rId6"/>
    <p:sldLayoutId id="2147483728" r:id="rId7"/>
    <p:sldLayoutId id="2147483729" r:id="rId8"/>
    <p:sldLayoutId id="2147483730" r:id="rId9"/>
    <p:sldLayoutId id="2147483731" r:id="rId10"/>
    <p:sldLayoutId id="2147483733" r:id="rId11"/>
  </p:sldLayoutIdLst>
  <p:hf sldNum="0" hdr="0" ftr="0" dt="0"/>
  <p:txStyles>
    <p:titleStyle>
      <a:lvl1pPr algn="l" defTabSz="914400" rtl="0" eaLnBrk="1" latinLnBrk="0" hangingPunct="1">
        <a:lnSpc>
          <a:spcPct val="88000"/>
        </a:lnSpc>
        <a:spcBef>
          <a:spcPct val="0"/>
        </a:spcBef>
        <a:buNone/>
        <a:defRPr sz="4400" kern="1200" cap="none" spc="4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4F3A7E8-6DA9-4C2B-ACC8-475F34DAE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B21CDF0-4D24-4190-9285-9016C19C1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87DEC6-FF84-CB07-7991-AEBAAEC973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0000" y="1449388"/>
            <a:ext cx="5015638" cy="2075012"/>
          </a:xfrm>
        </p:spPr>
        <p:txBody>
          <a:bodyPr>
            <a:normAutofit/>
          </a:bodyPr>
          <a:lstStyle/>
          <a:p>
            <a:r>
              <a:rPr lang="en-US" sz="7200" b="1" dirty="0"/>
              <a:t>Social Media Analytics (Group 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63F70D-682E-8502-2086-0BFBA33BCA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80000" y="3830398"/>
            <a:ext cx="5015638" cy="1219439"/>
          </a:xfrm>
        </p:spPr>
        <p:txBody>
          <a:bodyPr>
            <a:normAutofit/>
          </a:bodyPr>
          <a:lstStyle/>
          <a:p>
            <a:r>
              <a:rPr lang="en-US" b="1" dirty="0"/>
              <a:t>By: Sawaira Niaz</a:t>
            </a:r>
          </a:p>
        </p:txBody>
      </p:sp>
      <p:pic>
        <p:nvPicPr>
          <p:cNvPr id="4" name="Picture 3" descr="3D Hologram from iPad">
            <a:extLst>
              <a:ext uri="{FF2B5EF4-FFF2-40B4-BE49-F238E27FC236}">
                <a16:creationId xmlns:a16="http://schemas.microsoft.com/office/drawing/2014/main" id="{E2DA748D-4353-5B57-22BF-95E8B0C3A7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666" r="26872" b="-1"/>
          <a:stretch/>
        </p:blipFill>
        <p:spPr>
          <a:xfrm>
            <a:off x="20" y="10"/>
            <a:ext cx="5903704" cy="6857990"/>
          </a:xfrm>
          <a:custGeom>
            <a:avLst/>
            <a:gdLst/>
            <a:ahLst/>
            <a:cxnLst/>
            <a:rect l="l" t="t" r="r" b="b"/>
            <a:pathLst>
              <a:path w="5903724" h="6858000">
                <a:moveTo>
                  <a:pt x="0" y="0"/>
                </a:moveTo>
                <a:lnTo>
                  <a:pt x="5886178" y="0"/>
                </a:lnTo>
                <a:lnTo>
                  <a:pt x="5890522" y="42009"/>
                </a:lnTo>
                <a:cubicBezTo>
                  <a:pt x="5948302" y="788432"/>
                  <a:pt x="5795211" y="5194623"/>
                  <a:pt x="5836720" y="6279216"/>
                </a:cubicBezTo>
                <a:cubicBezTo>
                  <a:pt x="5842686" y="6384211"/>
                  <a:pt x="5845802" y="6526851"/>
                  <a:pt x="5846540" y="6699667"/>
                </a:cubicBezTo>
                <a:lnTo>
                  <a:pt x="584650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3C9AA14C-80A4-427C-A911-28CD20C56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7909203" y="317452"/>
            <a:ext cx="2117174" cy="588806"/>
            <a:chOff x="4549904" y="5078157"/>
            <a:chExt cx="3023338" cy="840818"/>
          </a:xfrm>
        </p:grpSpPr>
        <p:sp>
          <p:nvSpPr>
            <p:cNvPr id="50" name="Freeform 80">
              <a:extLst>
                <a:ext uri="{FF2B5EF4-FFF2-40B4-BE49-F238E27FC236}">
                  <a16:creationId xmlns:a16="http://schemas.microsoft.com/office/drawing/2014/main" id="{EF32CDAF-4619-4949-9516-1E042181E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5690691" y="5352589"/>
              <a:ext cx="749228" cy="383544"/>
            </a:xfrm>
            <a:custGeom>
              <a:avLst/>
              <a:gdLst>
                <a:gd name="T0" fmla="*/ 53 w 66"/>
                <a:gd name="T1" fmla="*/ 33 h 34"/>
                <a:gd name="T2" fmla="*/ 39 w 66"/>
                <a:gd name="T3" fmla="*/ 33 h 34"/>
                <a:gd name="T4" fmla="*/ 21 w 66"/>
                <a:gd name="T5" fmla="*/ 33 h 34"/>
                <a:gd name="T6" fmla="*/ 12 w 66"/>
                <a:gd name="T7" fmla="*/ 32 h 34"/>
                <a:gd name="T8" fmla="*/ 3 w 66"/>
                <a:gd name="T9" fmla="*/ 28 h 34"/>
                <a:gd name="T10" fmla="*/ 0 w 66"/>
                <a:gd name="T11" fmla="*/ 21 h 34"/>
                <a:gd name="T12" fmla="*/ 0 w 66"/>
                <a:gd name="T13" fmla="*/ 16 h 34"/>
                <a:gd name="T14" fmla="*/ 3 w 66"/>
                <a:gd name="T15" fmla="*/ 7 h 34"/>
                <a:gd name="T16" fmla="*/ 11 w 66"/>
                <a:gd name="T17" fmla="*/ 3 h 34"/>
                <a:gd name="T18" fmla="*/ 23 w 66"/>
                <a:gd name="T19" fmla="*/ 2 h 34"/>
                <a:gd name="T20" fmla="*/ 43 w 66"/>
                <a:gd name="T21" fmla="*/ 0 h 34"/>
                <a:gd name="T22" fmla="*/ 48 w 66"/>
                <a:gd name="T23" fmla="*/ 0 h 34"/>
                <a:gd name="T24" fmla="*/ 62 w 66"/>
                <a:gd name="T25" fmla="*/ 4 h 34"/>
                <a:gd name="T26" fmla="*/ 66 w 66"/>
                <a:gd name="T27" fmla="*/ 13 h 34"/>
                <a:gd name="T28" fmla="*/ 66 w 66"/>
                <a:gd name="T29" fmla="*/ 20 h 34"/>
                <a:gd name="T30" fmla="*/ 62 w 66"/>
                <a:gd name="T31" fmla="*/ 29 h 34"/>
                <a:gd name="T32" fmla="*/ 53 w 66"/>
                <a:gd name="T33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6" h="34">
                  <a:moveTo>
                    <a:pt x="53" y="33"/>
                  </a:moveTo>
                  <a:cubicBezTo>
                    <a:pt x="47" y="33"/>
                    <a:pt x="53" y="34"/>
                    <a:pt x="39" y="33"/>
                  </a:cubicBezTo>
                  <a:cubicBezTo>
                    <a:pt x="24" y="33"/>
                    <a:pt x="21" y="33"/>
                    <a:pt x="21" y="33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7" y="31"/>
                    <a:pt x="4" y="30"/>
                    <a:pt x="3" y="28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0" y="19"/>
                    <a:pt x="0" y="16"/>
                  </a:cubicBezTo>
                  <a:cubicBezTo>
                    <a:pt x="0" y="13"/>
                    <a:pt x="1" y="10"/>
                    <a:pt x="3" y="7"/>
                  </a:cubicBezTo>
                  <a:cubicBezTo>
                    <a:pt x="4" y="5"/>
                    <a:pt x="7" y="3"/>
                    <a:pt x="11" y="3"/>
                  </a:cubicBezTo>
                  <a:cubicBezTo>
                    <a:pt x="16" y="2"/>
                    <a:pt x="20" y="2"/>
                    <a:pt x="23" y="2"/>
                  </a:cubicBezTo>
                  <a:cubicBezTo>
                    <a:pt x="32" y="1"/>
                    <a:pt x="37" y="0"/>
                    <a:pt x="43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4" y="1"/>
                    <a:pt x="59" y="3"/>
                    <a:pt x="62" y="4"/>
                  </a:cubicBezTo>
                  <a:cubicBezTo>
                    <a:pt x="65" y="6"/>
                    <a:pt x="66" y="9"/>
                    <a:pt x="66" y="13"/>
                  </a:cubicBezTo>
                  <a:cubicBezTo>
                    <a:pt x="66" y="15"/>
                    <a:pt x="66" y="17"/>
                    <a:pt x="66" y="20"/>
                  </a:cubicBezTo>
                  <a:cubicBezTo>
                    <a:pt x="65" y="23"/>
                    <a:pt x="64" y="26"/>
                    <a:pt x="62" y="29"/>
                  </a:cubicBezTo>
                  <a:cubicBezTo>
                    <a:pt x="60" y="31"/>
                    <a:pt x="57" y="32"/>
                    <a:pt x="53" y="3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51" name="Freeform 84">
              <a:extLst>
                <a:ext uri="{FF2B5EF4-FFF2-40B4-BE49-F238E27FC236}">
                  <a16:creationId xmlns:a16="http://schemas.microsoft.com/office/drawing/2014/main" id="{270C485D-6BA8-4BF7-B72C-2B14A43A66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274527">
              <a:off x="6910134" y="5062687"/>
              <a:ext cx="647637" cy="678578"/>
            </a:xfrm>
            <a:custGeom>
              <a:avLst/>
              <a:gdLst>
                <a:gd name="T0" fmla="*/ 4 w 57"/>
                <a:gd name="T1" fmla="*/ 34 h 60"/>
                <a:gd name="T2" fmla="*/ 17 w 57"/>
                <a:gd name="T3" fmla="*/ 18 h 60"/>
                <a:gd name="T4" fmla="*/ 26 w 57"/>
                <a:gd name="T5" fmla="*/ 8 h 60"/>
                <a:gd name="T6" fmla="*/ 29 w 57"/>
                <a:gd name="T7" fmla="*/ 5 h 60"/>
                <a:gd name="T8" fmla="*/ 41 w 57"/>
                <a:gd name="T9" fmla="*/ 0 h 60"/>
                <a:gd name="T10" fmla="*/ 51 w 57"/>
                <a:gd name="T11" fmla="*/ 6 h 60"/>
                <a:gd name="T12" fmla="*/ 56 w 57"/>
                <a:gd name="T13" fmla="*/ 16 h 60"/>
                <a:gd name="T14" fmla="*/ 51 w 57"/>
                <a:gd name="T15" fmla="*/ 28 h 60"/>
                <a:gd name="T16" fmla="*/ 29 w 57"/>
                <a:gd name="T17" fmla="*/ 53 h 60"/>
                <a:gd name="T18" fmla="*/ 17 w 57"/>
                <a:gd name="T19" fmla="*/ 59 h 60"/>
                <a:gd name="T20" fmla="*/ 5 w 57"/>
                <a:gd name="T21" fmla="*/ 54 h 60"/>
                <a:gd name="T22" fmla="*/ 0 w 57"/>
                <a:gd name="T23" fmla="*/ 45 h 60"/>
                <a:gd name="T24" fmla="*/ 4 w 57"/>
                <a:gd name="T25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" h="60">
                  <a:moveTo>
                    <a:pt x="4" y="34"/>
                  </a:moveTo>
                  <a:cubicBezTo>
                    <a:pt x="5" y="33"/>
                    <a:pt x="17" y="18"/>
                    <a:pt x="17" y="18"/>
                  </a:cubicBezTo>
                  <a:cubicBezTo>
                    <a:pt x="21" y="14"/>
                    <a:pt x="24" y="10"/>
                    <a:pt x="26" y="8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34" y="2"/>
                    <a:pt x="38" y="0"/>
                    <a:pt x="41" y="0"/>
                  </a:cubicBezTo>
                  <a:cubicBezTo>
                    <a:pt x="44" y="1"/>
                    <a:pt x="47" y="2"/>
                    <a:pt x="51" y="6"/>
                  </a:cubicBezTo>
                  <a:cubicBezTo>
                    <a:pt x="55" y="10"/>
                    <a:pt x="57" y="13"/>
                    <a:pt x="56" y="16"/>
                  </a:cubicBezTo>
                  <a:cubicBezTo>
                    <a:pt x="56" y="19"/>
                    <a:pt x="54" y="23"/>
                    <a:pt x="51" y="28"/>
                  </a:cubicBezTo>
                  <a:cubicBezTo>
                    <a:pt x="51" y="28"/>
                    <a:pt x="33" y="48"/>
                    <a:pt x="29" y="53"/>
                  </a:cubicBezTo>
                  <a:cubicBezTo>
                    <a:pt x="25" y="57"/>
                    <a:pt x="21" y="59"/>
                    <a:pt x="17" y="59"/>
                  </a:cubicBezTo>
                  <a:cubicBezTo>
                    <a:pt x="13" y="60"/>
                    <a:pt x="9" y="58"/>
                    <a:pt x="5" y="54"/>
                  </a:cubicBezTo>
                  <a:cubicBezTo>
                    <a:pt x="2" y="51"/>
                    <a:pt x="0" y="48"/>
                    <a:pt x="0" y="45"/>
                  </a:cubicBezTo>
                  <a:cubicBezTo>
                    <a:pt x="0" y="42"/>
                    <a:pt x="2" y="38"/>
                    <a:pt x="4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25" name="Freeform 87">
              <a:extLst>
                <a:ext uri="{FF2B5EF4-FFF2-40B4-BE49-F238E27FC236}">
                  <a16:creationId xmlns:a16="http://schemas.microsoft.com/office/drawing/2014/main" id="{79239B91-4327-43B3-AED5-CB9EC1653B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4430858">
              <a:off x="4571743" y="5071596"/>
              <a:ext cx="626472" cy="670149"/>
            </a:xfrm>
            <a:custGeom>
              <a:avLst/>
              <a:gdLst>
                <a:gd name="T0" fmla="*/ 0 w 55"/>
                <a:gd name="T1" fmla="*/ 17 h 59"/>
                <a:gd name="T2" fmla="*/ 1 w 55"/>
                <a:gd name="T3" fmla="*/ 11 h 59"/>
                <a:gd name="T4" fmla="*/ 4 w 55"/>
                <a:gd name="T5" fmla="*/ 6 h 59"/>
                <a:gd name="T6" fmla="*/ 7 w 55"/>
                <a:gd name="T7" fmla="*/ 4 h 59"/>
                <a:gd name="T8" fmla="*/ 14 w 55"/>
                <a:gd name="T9" fmla="*/ 0 h 59"/>
                <a:gd name="T10" fmla="*/ 23 w 55"/>
                <a:gd name="T11" fmla="*/ 3 h 59"/>
                <a:gd name="T12" fmla="*/ 31 w 55"/>
                <a:gd name="T13" fmla="*/ 11 h 59"/>
                <a:gd name="T14" fmla="*/ 38 w 55"/>
                <a:gd name="T15" fmla="*/ 20 h 59"/>
                <a:gd name="T16" fmla="*/ 48 w 55"/>
                <a:gd name="T17" fmla="*/ 31 h 59"/>
                <a:gd name="T18" fmla="*/ 55 w 55"/>
                <a:gd name="T19" fmla="*/ 43 h 59"/>
                <a:gd name="T20" fmla="*/ 49 w 55"/>
                <a:gd name="T21" fmla="*/ 55 h 59"/>
                <a:gd name="T22" fmla="*/ 38 w 55"/>
                <a:gd name="T23" fmla="*/ 59 h 59"/>
                <a:gd name="T24" fmla="*/ 33 w 55"/>
                <a:gd name="T25" fmla="*/ 58 h 59"/>
                <a:gd name="T26" fmla="*/ 26 w 55"/>
                <a:gd name="T27" fmla="*/ 53 h 59"/>
                <a:gd name="T28" fmla="*/ 5 w 55"/>
                <a:gd name="T29" fmla="*/ 27 h 59"/>
                <a:gd name="T30" fmla="*/ 0 w 55"/>
                <a:gd name="T31" fmla="*/ 1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5" h="59">
                  <a:moveTo>
                    <a:pt x="0" y="17"/>
                  </a:moveTo>
                  <a:cubicBezTo>
                    <a:pt x="0" y="14"/>
                    <a:pt x="0" y="12"/>
                    <a:pt x="1" y="11"/>
                  </a:cubicBezTo>
                  <a:cubicBezTo>
                    <a:pt x="2" y="9"/>
                    <a:pt x="3" y="8"/>
                    <a:pt x="4" y="6"/>
                  </a:cubicBezTo>
                  <a:cubicBezTo>
                    <a:pt x="6" y="5"/>
                    <a:pt x="7" y="4"/>
                    <a:pt x="7" y="4"/>
                  </a:cubicBezTo>
                  <a:cubicBezTo>
                    <a:pt x="9" y="2"/>
                    <a:pt x="12" y="1"/>
                    <a:pt x="14" y="0"/>
                  </a:cubicBezTo>
                  <a:cubicBezTo>
                    <a:pt x="17" y="0"/>
                    <a:pt x="20" y="1"/>
                    <a:pt x="23" y="3"/>
                  </a:cubicBezTo>
                  <a:cubicBezTo>
                    <a:pt x="26" y="4"/>
                    <a:pt x="29" y="7"/>
                    <a:pt x="31" y="1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48" y="31"/>
                    <a:pt x="48" y="31"/>
                    <a:pt x="48" y="31"/>
                  </a:cubicBezTo>
                  <a:cubicBezTo>
                    <a:pt x="52" y="36"/>
                    <a:pt x="54" y="40"/>
                    <a:pt x="55" y="43"/>
                  </a:cubicBezTo>
                  <a:cubicBezTo>
                    <a:pt x="55" y="47"/>
                    <a:pt x="54" y="52"/>
                    <a:pt x="49" y="55"/>
                  </a:cubicBezTo>
                  <a:cubicBezTo>
                    <a:pt x="45" y="58"/>
                    <a:pt x="41" y="59"/>
                    <a:pt x="38" y="59"/>
                  </a:cubicBezTo>
                  <a:cubicBezTo>
                    <a:pt x="37" y="59"/>
                    <a:pt x="35" y="59"/>
                    <a:pt x="33" y="58"/>
                  </a:cubicBezTo>
                  <a:cubicBezTo>
                    <a:pt x="31" y="57"/>
                    <a:pt x="29" y="55"/>
                    <a:pt x="26" y="53"/>
                  </a:cubicBezTo>
                  <a:cubicBezTo>
                    <a:pt x="23" y="50"/>
                    <a:pt x="5" y="27"/>
                    <a:pt x="5" y="27"/>
                  </a:cubicBezTo>
                  <a:cubicBezTo>
                    <a:pt x="2" y="23"/>
                    <a:pt x="0" y="19"/>
                    <a:pt x="0" y="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2FD01A0-E6FF-41CD-AEBD-279232B90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7990093" y="5372723"/>
            <a:ext cx="2088038" cy="719230"/>
            <a:chOff x="4532666" y="505937"/>
            <a:chExt cx="2981730" cy="1027064"/>
          </a:xfrm>
        </p:grpSpPr>
        <p:sp>
          <p:nvSpPr>
            <p:cNvPr id="53" name="Freeform 78">
              <a:extLst>
                <a:ext uri="{FF2B5EF4-FFF2-40B4-BE49-F238E27FC236}">
                  <a16:creationId xmlns:a16="http://schemas.microsoft.com/office/drawing/2014/main" id="{811C6308-5554-4129-8881-A95AF512C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4532666" y="754398"/>
              <a:ext cx="694205" cy="713383"/>
            </a:xfrm>
            <a:custGeom>
              <a:avLst/>
              <a:gdLst>
                <a:gd name="T0" fmla="*/ 32 w 58"/>
                <a:gd name="T1" fmla="*/ 56 h 60"/>
                <a:gd name="T2" fmla="*/ 24 w 58"/>
                <a:gd name="T3" fmla="*/ 48 h 60"/>
                <a:gd name="T4" fmla="*/ 14 w 58"/>
                <a:gd name="T5" fmla="*/ 36 h 60"/>
                <a:gd name="T6" fmla="*/ 7 w 58"/>
                <a:gd name="T7" fmla="*/ 29 h 60"/>
                <a:gd name="T8" fmla="*/ 1 w 58"/>
                <a:gd name="T9" fmla="*/ 17 h 60"/>
                <a:gd name="T10" fmla="*/ 7 w 58"/>
                <a:gd name="T11" fmla="*/ 4 h 60"/>
                <a:gd name="T12" fmla="*/ 17 w 58"/>
                <a:gd name="T13" fmla="*/ 1 h 60"/>
                <a:gd name="T14" fmla="*/ 29 w 58"/>
                <a:gd name="T15" fmla="*/ 6 h 60"/>
                <a:gd name="T16" fmla="*/ 31 w 58"/>
                <a:gd name="T17" fmla="*/ 8 h 60"/>
                <a:gd name="T18" fmla="*/ 38 w 58"/>
                <a:gd name="T19" fmla="*/ 15 h 60"/>
                <a:gd name="T20" fmla="*/ 44 w 58"/>
                <a:gd name="T21" fmla="*/ 22 h 60"/>
                <a:gd name="T22" fmla="*/ 54 w 58"/>
                <a:gd name="T23" fmla="*/ 33 h 60"/>
                <a:gd name="T24" fmla="*/ 58 w 58"/>
                <a:gd name="T25" fmla="*/ 44 h 60"/>
                <a:gd name="T26" fmla="*/ 53 w 58"/>
                <a:gd name="T27" fmla="*/ 54 h 60"/>
                <a:gd name="T28" fmla="*/ 42 w 58"/>
                <a:gd name="T29" fmla="*/ 60 h 60"/>
                <a:gd name="T30" fmla="*/ 32 w 58"/>
                <a:gd name="T31" fmla="*/ 5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8" h="60">
                  <a:moveTo>
                    <a:pt x="32" y="56"/>
                  </a:moveTo>
                  <a:cubicBezTo>
                    <a:pt x="30" y="54"/>
                    <a:pt x="31" y="55"/>
                    <a:pt x="24" y="48"/>
                  </a:cubicBezTo>
                  <a:cubicBezTo>
                    <a:pt x="17" y="40"/>
                    <a:pt x="14" y="36"/>
                    <a:pt x="14" y="36"/>
                  </a:cubicBezTo>
                  <a:cubicBezTo>
                    <a:pt x="8" y="30"/>
                    <a:pt x="14" y="37"/>
                    <a:pt x="7" y="29"/>
                  </a:cubicBezTo>
                  <a:cubicBezTo>
                    <a:pt x="3" y="24"/>
                    <a:pt x="1" y="20"/>
                    <a:pt x="1" y="17"/>
                  </a:cubicBezTo>
                  <a:cubicBezTo>
                    <a:pt x="0" y="13"/>
                    <a:pt x="3" y="9"/>
                    <a:pt x="7" y="4"/>
                  </a:cubicBezTo>
                  <a:cubicBezTo>
                    <a:pt x="10" y="2"/>
                    <a:pt x="13" y="0"/>
                    <a:pt x="17" y="1"/>
                  </a:cubicBezTo>
                  <a:cubicBezTo>
                    <a:pt x="21" y="1"/>
                    <a:pt x="25" y="3"/>
                    <a:pt x="29" y="6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3" y="11"/>
                    <a:pt x="37" y="15"/>
                    <a:pt x="38" y="15"/>
                  </a:cubicBezTo>
                  <a:cubicBezTo>
                    <a:pt x="42" y="20"/>
                    <a:pt x="40" y="18"/>
                    <a:pt x="44" y="22"/>
                  </a:cubicBezTo>
                  <a:cubicBezTo>
                    <a:pt x="51" y="29"/>
                    <a:pt x="50" y="29"/>
                    <a:pt x="54" y="33"/>
                  </a:cubicBezTo>
                  <a:cubicBezTo>
                    <a:pt x="57" y="37"/>
                    <a:pt x="58" y="40"/>
                    <a:pt x="58" y="44"/>
                  </a:cubicBezTo>
                  <a:cubicBezTo>
                    <a:pt x="58" y="47"/>
                    <a:pt x="56" y="50"/>
                    <a:pt x="53" y="54"/>
                  </a:cubicBezTo>
                  <a:cubicBezTo>
                    <a:pt x="49" y="58"/>
                    <a:pt x="45" y="60"/>
                    <a:pt x="42" y="60"/>
                  </a:cubicBezTo>
                  <a:cubicBezTo>
                    <a:pt x="39" y="60"/>
                    <a:pt x="36" y="59"/>
                    <a:pt x="32" y="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54" name="Freeform 79">
              <a:extLst>
                <a:ext uri="{FF2B5EF4-FFF2-40B4-BE49-F238E27FC236}">
                  <a16:creationId xmlns:a16="http://schemas.microsoft.com/office/drawing/2014/main" id="{C28F3A03-B53B-433E-8DF7-6B13336D0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5791465" y="505937"/>
              <a:ext cx="587404" cy="943792"/>
            </a:xfrm>
            <a:custGeom>
              <a:avLst/>
              <a:gdLst>
                <a:gd name="T0" fmla="*/ 15 w 49"/>
                <a:gd name="T1" fmla="*/ 65 h 79"/>
                <a:gd name="T2" fmla="*/ 12 w 49"/>
                <a:gd name="T3" fmla="*/ 54 h 79"/>
                <a:gd name="T4" fmla="*/ 8 w 49"/>
                <a:gd name="T5" fmla="*/ 33 h 79"/>
                <a:gd name="T6" fmla="*/ 38 w 49"/>
                <a:gd name="T7" fmla="*/ 24 h 79"/>
                <a:gd name="T8" fmla="*/ 45 w 49"/>
                <a:gd name="T9" fmla="*/ 70 h 79"/>
                <a:gd name="T10" fmla="*/ 15 w 49"/>
                <a:gd name="T11" fmla="*/ 6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79">
                  <a:moveTo>
                    <a:pt x="15" y="65"/>
                  </a:moveTo>
                  <a:cubicBezTo>
                    <a:pt x="14" y="59"/>
                    <a:pt x="13" y="58"/>
                    <a:pt x="12" y="54"/>
                  </a:cubicBezTo>
                  <a:cubicBezTo>
                    <a:pt x="11" y="45"/>
                    <a:pt x="10" y="40"/>
                    <a:pt x="8" y="33"/>
                  </a:cubicBezTo>
                  <a:cubicBezTo>
                    <a:pt x="0" y="9"/>
                    <a:pt x="34" y="0"/>
                    <a:pt x="38" y="24"/>
                  </a:cubicBezTo>
                  <a:cubicBezTo>
                    <a:pt x="43" y="43"/>
                    <a:pt x="49" y="60"/>
                    <a:pt x="45" y="70"/>
                  </a:cubicBezTo>
                  <a:cubicBezTo>
                    <a:pt x="38" y="77"/>
                    <a:pt x="19" y="79"/>
                    <a:pt x="15" y="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55" name="Freeform 85">
              <a:extLst>
                <a:ext uri="{FF2B5EF4-FFF2-40B4-BE49-F238E27FC236}">
                  <a16:creationId xmlns:a16="http://schemas.microsoft.com/office/drawing/2014/main" id="{E990BBBC-E616-4D0E-9917-A6CA72AAEA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7087193" y="757585"/>
              <a:ext cx="427203" cy="775416"/>
            </a:xfrm>
            <a:custGeom>
              <a:avLst/>
              <a:gdLst>
                <a:gd name="T0" fmla="*/ 36 w 36"/>
                <a:gd name="T1" fmla="*/ 15 h 65"/>
                <a:gd name="T2" fmla="*/ 34 w 36"/>
                <a:gd name="T3" fmla="*/ 5 h 65"/>
                <a:gd name="T4" fmla="*/ 28 w 36"/>
                <a:gd name="T5" fmla="*/ 1 h 65"/>
                <a:gd name="T6" fmla="*/ 23 w 36"/>
                <a:gd name="T7" fmla="*/ 0 h 65"/>
                <a:gd name="T8" fmla="*/ 13 w 36"/>
                <a:gd name="T9" fmla="*/ 1 h 65"/>
                <a:gd name="T10" fmla="*/ 7 w 36"/>
                <a:gd name="T11" fmla="*/ 9 h 65"/>
                <a:gd name="T12" fmla="*/ 4 w 36"/>
                <a:gd name="T13" fmla="*/ 19 h 65"/>
                <a:gd name="T14" fmla="*/ 0 w 36"/>
                <a:gd name="T15" fmla="*/ 44 h 65"/>
                <a:gd name="T16" fmla="*/ 1 w 36"/>
                <a:gd name="T17" fmla="*/ 58 h 65"/>
                <a:gd name="T18" fmla="*/ 8 w 36"/>
                <a:gd name="T19" fmla="*/ 64 h 65"/>
                <a:gd name="T20" fmla="*/ 16 w 36"/>
                <a:gd name="T21" fmla="*/ 65 h 65"/>
                <a:gd name="T22" fmla="*/ 25 w 36"/>
                <a:gd name="T23" fmla="*/ 63 h 65"/>
                <a:gd name="T24" fmla="*/ 31 w 36"/>
                <a:gd name="T25" fmla="*/ 55 h 65"/>
                <a:gd name="T26" fmla="*/ 34 w 36"/>
                <a:gd name="T27" fmla="*/ 40 h 65"/>
                <a:gd name="T28" fmla="*/ 36 w 36"/>
                <a:gd name="T29" fmla="*/ 1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" h="65">
                  <a:moveTo>
                    <a:pt x="36" y="15"/>
                  </a:moveTo>
                  <a:cubicBezTo>
                    <a:pt x="36" y="10"/>
                    <a:pt x="35" y="7"/>
                    <a:pt x="34" y="5"/>
                  </a:cubicBezTo>
                  <a:cubicBezTo>
                    <a:pt x="33" y="3"/>
                    <a:pt x="31" y="2"/>
                    <a:pt x="28" y="1"/>
                  </a:cubicBezTo>
                  <a:cubicBezTo>
                    <a:pt x="27" y="1"/>
                    <a:pt x="25" y="1"/>
                    <a:pt x="23" y="0"/>
                  </a:cubicBezTo>
                  <a:cubicBezTo>
                    <a:pt x="19" y="0"/>
                    <a:pt x="16" y="0"/>
                    <a:pt x="13" y="1"/>
                  </a:cubicBezTo>
                  <a:cubicBezTo>
                    <a:pt x="11" y="2"/>
                    <a:pt x="9" y="4"/>
                    <a:pt x="7" y="9"/>
                  </a:cubicBezTo>
                  <a:cubicBezTo>
                    <a:pt x="6" y="13"/>
                    <a:pt x="5" y="17"/>
                    <a:pt x="4" y="19"/>
                  </a:cubicBezTo>
                  <a:cubicBezTo>
                    <a:pt x="2" y="29"/>
                    <a:pt x="0" y="44"/>
                    <a:pt x="0" y="44"/>
                  </a:cubicBezTo>
                  <a:cubicBezTo>
                    <a:pt x="0" y="50"/>
                    <a:pt x="0" y="55"/>
                    <a:pt x="1" y="58"/>
                  </a:cubicBezTo>
                  <a:cubicBezTo>
                    <a:pt x="2" y="61"/>
                    <a:pt x="5" y="63"/>
                    <a:pt x="8" y="64"/>
                  </a:cubicBezTo>
                  <a:cubicBezTo>
                    <a:pt x="11" y="65"/>
                    <a:pt x="13" y="65"/>
                    <a:pt x="16" y="65"/>
                  </a:cubicBezTo>
                  <a:cubicBezTo>
                    <a:pt x="19" y="65"/>
                    <a:pt x="22" y="64"/>
                    <a:pt x="25" y="63"/>
                  </a:cubicBezTo>
                  <a:cubicBezTo>
                    <a:pt x="28" y="61"/>
                    <a:pt x="30" y="59"/>
                    <a:pt x="31" y="55"/>
                  </a:cubicBezTo>
                  <a:cubicBezTo>
                    <a:pt x="32" y="50"/>
                    <a:pt x="31" y="54"/>
                    <a:pt x="34" y="40"/>
                  </a:cubicBezTo>
                  <a:lnTo>
                    <a:pt x="36" y="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86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6A12D-8053-2F7F-568A-364D1739F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1003123"/>
          </a:xfrm>
        </p:spPr>
        <p:txBody>
          <a:bodyPr>
            <a:normAutofit/>
          </a:bodyPr>
          <a:lstStyle/>
          <a:p>
            <a:r>
              <a:rPr lang="en-US" sz="7200" b="1" u="sng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1C270-14E0-E8F6-158E-547DF964BB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5471" y="1769806"/>
            <a:ext cx="5830529" cy="483747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📌 Dataset Overview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Source: Kaggle – Social Media Engagement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Size: 9,000 records, 9+ columns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Platforms Covered: Instagram, Facebook, TikTok, LinkedIn, Twitter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Key Metrics: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Follower Count, Posts Per Week, Engagement Rate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Ad Spend (USD), Conversion Rate, Campaign Reach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976E3C-8954-18AB-452E-00B7D99A8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58400" y="1769805"/>
            <a:ext cx="5733600" cy="483747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📌 Objectives of the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Identify top-performing social media platforms based on engagement.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Evaluate Return on Investment (ROI) for ad spending.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Understand how post frequency impacts follower growth.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Determine cost efficiency of conversions across platforms.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082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DB59697-5AC8-8A0A-4F15-E86118A5A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52417"/>
            <a:ext cx="5106113" cy="914632"/>
          </a:xfrm>
        </p:spPr>
        <p:txBody>
          <a:bodyPr>
            <a:noAutofit/>
          </a:bodyPr>
          <a:lstStyle/>
          <a:p>
            <a:r>
              <a:rPr lang="en-US" sz="5400" b="1" u="sng" dirty="0"/>
              <a:t>Data Integration &amp; Cleaning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F524F-596B-1A10-FA48-84712E4AF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55" y="1755058"/>
            <a:ext cx="6695767" cy="4852219"/>
          </a:xfrm>
        </p:spPr>
        <p:txBody>
          <a:bodyPr>
            <a:normAutofit fontScale="40000" lnSpcReduction="20000"/>
          </a:bodyPr>
          <a:lstStyle/>
          <a:p>
            <a:pPr>
              <a:buNone/>
            </a:pPr>
            <a:r>
              <a:rPr lang="en-US" sz="5000" b="1">
                <a:latin typeface="Arial" panose="020B0604020202020204" pitchFamily="34" charset="0"/>
                <a:cs typeface="Arial" panose="020B0604020202020204" pitchFamily="34" charset="0"/>
              </a:rPr>
              <a:t>📌 Loading &amp; Exploring the Data </a:t>
            </a:r>
          </a:p>
          <a:p>
            <a:r>
              <a:rPr lang="en-US" sz="5000" b="1">
                <a:latin typeface="Arial" panose="020B0604020202020204" pitchFamily="34" charset="0"/>
                <a:cs typeface="Arial" panose="020B0604020202020204" pitchFamily="34" charset="0"/>
              </a:rPr>
              <a:t>  Identified key attributes: engagement rate, ROI, ad spend, follower count</a:t>
            </a:r>
          </a:p>
          <a:p>
            <a:pPr>
              <a:buNone/>
            </a:pPr>
            <a:r>
              <a:rPr lang="en-US" sz="5000" b="1">
                <a:latin typeface="Arial" panose="020B0604020202020204" pitchFamily="34" charset="0"/>
                <a:cs typeface="Arial" panose="020B0604020202020204" pitchFamily="34" charset="0"/>
              </a:rPr>
              <a:t>📌 Handling Missing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5000" b="1">
                <a:latin typeface="Arial" panose="020B0604020202020204" pitchFamily="34" charset="0"/>
                <a:cs typeface="Arial" panose="020B0604020202020204" pitchFamily="34" charset="0"/>
              </a:rPr>
              <a:t>Original dataset had missing values in: Ad Spend (USD), Engagement Rate, Conversion Rate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5000" b="1">
                <a:latin typeface="Arial" panose="020B0604020202020204" pitchFamily="34" charset="0"/>
                <a:cs typeface="Arial" panose="020B0604020202020204" pitchFamily="34" charset="0"/>
              </a:rPr>
              <a:t>Used mean/median imputation for numerical values.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5000" b="1">
                <a:latin typeface="Arial" panose="020B0604020202020204" pitchFamily="34" charset="0"/>
                <a:cs typeface="Arial" panose="020B0604020202020204" pitchFamily="34" charset="0"/>
              </a:rPr>
              <a:t> Removed records having a large amount of missing data.</a:t>
            </a:r>
          </a:p>
          <a:p>
            <a:pPr>
              <a:buNone/>
            </a:pPr>
            <a:r>
              <a:rPr lang="en-US" sz="5000" b="1">
                <a:latin typeface="Arial" panose="020B0604020202020204" pitchFamily="34" charset="0"/>
                <a:cs typeface="Arial" panose="020B0604020202020204" pitchFamily="34" charset="0"/>
              </a:rPr>
              <a:t>📌 Removing Duplicates ( None found)</a:t>
            </a:r>
          </a:p>
          <a:p>
            <a:pPr>
              <a:buNone/>
            </a:pPr>
            <a:r>
              <a:rPr lang="en-US" sz="5000" b="1">
                <a:latin typeface="Arial" panose="020B0604020202020204" pitchFamily="34" charset="0"/>
                <a:cs typeface="Arial" panose="020B0604020202020204" pitchFamily="34" charset="0"/>
              </a:rPr>
              <a:t>📌 Formatting &amp; Standardization</a:t>
            </a:r>
          </a:p>
          <a:p>
            <a:pPr>
              <a:buNone/>
            </a:pPr>
            <a:r>
              <a:rPr lang="en-US" sz="5000" b="1">
                <a:latin typeface="Arial" panose="020B0604020202020204" pitchFamily="34" charset="0"/>
                <a:cs typeface="Arial" panose="020B0604020202020204" pitchFamily="34" charset="0"/>
              </a:rPr>
              <a:t>📌 Created Calculated Columns/Measures (DAX in Power BI)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42D13A2-B1BA-0500-D6B9-EC5FB8C9D3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722" y="1"/>
            <a:ext cx="50832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567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A6F3301-6C9D-DACA-88B8-E84069D28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9" y="383226"/>
            <a:ext cx="10728322" cy="988374"/>
          </a:xfrm>
        </p:spPr>
        <p:txBody>
          <a:bodyPr>
            <a:noAutofit/>
          </a:bodyPr>
          <a:lstStyle/>
          <a:p>
            <a:r>
              <a:rPr lang="en-US" b="1" u="sng" dirty="0"/>
              <a:t>Question 1: Which social media platform has the highest average engagement rate?</a:t>
            </a: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5CC7A34B-6D38-FA30-2B19-A23E073B7D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3019" y="2237409"/>
            <a:ext cx="283168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Twitter (8.8%) offers the highest level of engagement and involvement.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Instagram (8.7%) is great for images and influencer content.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LinkedIn (8.6%) has the lowest interaction and is engagement-limited due to its niche audience.</a:t>
            </a:r>
          </a:p>
        </p:txBody>
      </p:sp>
      <p:pic>
        <p:nvPicPr>
          <p:cNvPr id="17" name="Picture 16" descr="A graph of social media platforms&#10;&#10;AI-generated content may be incorrect.">
            <a:extLst>
              <a:ext uri="{FF2B5EF4-FFF2-40B4-BE49-F238E27FC236}">
                <a16:creationId xmlns:a16="http://schemas.microsoft.com/office/drawing/2014/main" id="{68684EEA-24A1-AB16-41FB-555766414A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3355" y="1209368"/>
            <a:ext cx="8578645" cy="5651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618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61CD-61A6-44D2-4D83-C4BA9A076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00" y="478930"/>
            <a:ext cx="10728322" cy="1477328"/>
          </a:xfrm>
        </p:spPr>
        <p:txBody>
          <a:bodyPr>
            <a:normAutofit fontScale="90000"/>
          </a:bodyPr>
          <a:lstStyle/>
          <a:p>
            <a:r>
              <a:rPr lang="en-US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Question 2: Which platform delivers the highest return on investment (ROI) for ad spend?</a:t>
            </a:r>
            <a:b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6E470CC-3555-1900-DAE0-5FF38C1A5A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41458" y="3075284"/>
            <a:ext cx="411546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Facebook (0.45 ROI) provides the best return on ad spend.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Twitter (0.42 ROI) is effective but relies heavily on engagement.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TikTok (0.35 ROI) has the lowest ROI, needing better ad targeting. </a:t>
            </a:r>
          </a:p>
        </p:txBody>
      </p:sp>
      <p:pic>
        <p:nvPicPr>
          <p:cNvPr id="8" name="Picture 7" descr="A graph showing the price of a stock market&#10;&#10;AI-generated content may be incorrect.">
            <a:extLst>
              <a:ext uri="{FF2B5EF4-FFF2-40B4-BE49-F238E27FC236}">
                <a16:creationId xmlns:a16="http://schemas.microsoft.com/office/drawing/2014/main" id="{79ABE08B-54A1-1C71-9F30-B025C37440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45" y="1945334"/>
            <a:ext cx="5607855" cy="491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157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785BF-DE5F-2C9B-9685-A6786639A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F39FB92-42EA-6C38-1E81-7CF181E760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"/>
            <a:ext cx="12191999" cy="68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354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40E6B-0379-2DA7-D47E-3664378BE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7" y="288577"/>
            <a:ext cx="10728322" cy="1947020"/>
          </a:xfrm>
        </p:spPr>
        <p:txBody>
          <a:bodyPr>
            <a:normAutofit/>
          </a:bodyPr>
          <a:lstStyle/>
          <a:p>
            <a:r>
              <a:rPr lang="en-US" sz="48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Question 3: Which platform has the highest share of total conversions?</a:t>
            </a:r>
            <a:b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7D081E4-2196-601B-F63C-D09A7EBE60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5190" y="2058220"/>
            <a:ext cx="3657597" cy="4437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Twitter has the highest conversion share (20.44%), showing strong audience engagement potential.</a:t>
            </a:r>
          </a:p>
          <a:p>
            <a:pPr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LinkedIn (20.11%) and Instagram (19.95%) closely follow, proving effective for conversions.</a:t>
            </a:r>
          </a:p>
          <a:p>
            <a:pPr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TikTok (19.82%) and Facebook (19.68%) contribute slightly less but remain significant.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 descr="A pie chart with numbers and a few words&#10;&#10;AI-generated content may be incorrect.">
            <a:extLst>
              <a:ext uri="{FF2B5EF4-FFF2-40B4-BE49-F238E27FC236}">
                <a16:creationId xmlns:a16="http://schemas.microsoft.com/office/drawing/2014/main" id="{6C2B5BF9-A0F2-3153-367C-C38AD9B28F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3510" y="1146853"/>
            <a:ext cx="7708490" cy="5711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234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FF494-0FE7-1A3D-9324-806984CA1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463" y="279987"/>
            <a:ext cx="10728322" cy="1477328"/>
          </a:xfrm>
        </p:spPr>
        <p:txBody>
          <a:bodyPr>
            <a:normAutofit fontScale="90000"/>
          </a:bodyPr>
          <a:lstStyle/>
          <a:p>
            <a:r>
              <a:rPr lang="en-US" sz="48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Question 4: How does the number of posts per week impact follower growth?</a:t>
            </a:r>
            <a:b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6CF983C-2C71-5E14-8005-0649F103DC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6734" y="2140626"/>
            <a:ext cx="299366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Posting 3-5 times per week leads to maximum follower growth.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Posting too little (1-2 posts) or too much (6-7 posts) results in slower growth.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highest follower count (736M) was recorded at 5 posts/week. </a:t>
            </a:r>
          </a:p>
        </p:txBody>
      </p:sp>
      <p:pic>
        <p:nvPicPr>
          <p:cNvPr id="11" name="Picture 10" descr="A graph with blue lines&#10;&#10;AI-generated content may be incorrect.">
            <a:extLst>
              <a:ext uri="{FF2B5EF4-FFF2-40B4-BE49-F238E27FC236}">
                <a16:creationId xmlns:a16="http://schemas.microsoft.com/office/drawing/2014/main" id="{CC4E920E-F315-D7D3-8AF1-53FC12C14A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595" y="1165123"/>
            <a:ext cx="8475406" cy="569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033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D3DF2-B43E-1E82-ECB2-57923E136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9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Question 5: What is the ROI (Return on Investment) for ad spend per platform?</a:t>
            </a:r>
            <a:b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5B3D452-DD86-3172-160B-52BFF1BF3F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8475" y="2277281"/>
            <a:ext cx="280516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ROI is highest when ad spend is less than $400.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Beyond $400, returns decrease, implying that increased spending equals higher ROI.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low-budget initiatives outperform high-volume expenditures.</a:t>
            </a:r>
          </a:p>
        </p:txBody>
      </p:sp>
      <p:pic>
        <p:nvPicPr>
          <p:cNvPr id="9" name="Picture 8" descr="A graph with blue dots&#10;&#10;AI-generated content may be incorrect.">
            <a:extLst>
              <a:ext uri="{FF2B5EF4-FFF2-40B4-BE49-F238E27FC236}">
                <a16:creationId xmlns:a16="http://schemas.microsoft.com/office/drawing/2014/main" id="{1407D54C-553E-1D47-31EA-201A81E8E7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3858" y="1357864"/>
            <a:ext cx="8608142" cy="550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108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E51E-F0C4-22D1-690D-279158F0C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Question 6: Which platform has the lowest engagement per dollar spent?</a:t>
            </a:r>
            <a:b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69DA79-E371-8A5B-2292-65C39571C6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8774" y="2399772"/>
            <a:ext cx="267212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Engagement per dollar decreases as ad spend rises.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 spends under $100 generate the highest engagement.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Above $300, engagement stabilizes, showing reduced efficiency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pic>
        <p:nvPicPr>
          <p:cNvPr id="6" name="Picture 5" descr="A graph of a graph&#10;&#10;AI-generated content may be incorrect.">
            <a:extLst>
              <a:ext uri="{FF2B5EF4-FFF2-40B4-BE49-F238E27FC236}">
                <a16:creationId xmlns:a16="http://schemas.microsoft.com/office/drawing/2014/main" id="{61A5E013-7F2E-DA92-ED87-DA43F3ABFE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084" y="1357864"/>
            <a:ext cx="8565916" cy="550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917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08119F7-B84E-4EBF-919F-A9B0F6D92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A17479-17CB-402A-8689-750C6F385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B6E26F-C0D9-48CD-5D74-9FC9F5E43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917290"/>
            <a:ext cx="3107463" cy="4212048"/>
          </a:xfrm>
        </p:spPr>
        <p:txBody>
          <a:bodyPr>
            <a:normAutofit/>
          </a:bodyPr>
          <a:lstStyle/>
          <a:p>
            <a:r>
              <a:rPr lang="en-US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Question 7: How does engagement rate trend over time across platforms?</a:t>
            </a:r>
            <a:b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F534AA72-89BF-4BB0-B339-DEB9FC7F1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2978" y="0"/>
            <a:ext cx="7809022" cy="6858000"/>
          </a:xfrm>
          <a:custGeom>
            <a:avLst/>
            <a:gdLst>
              <a:gd name="connsiteX0" fmla="*/ 27229 w 7809022"/>
              <a:gd name="connsiteY0" fmla="*/ 0 h 6858000"/>
              <a:gd name="connsiteX1" fmla="*/ 7809022 w 7809022"/>
              <a:gd name="connsiteY1" fmla="*/ 0 h 6858000"/>
              <a:gd name="connsiteX2" fmla="*/ 7809022 w 7809022"/>
              <a:gd name="connsiteY2" fmla="*/ 6858000 h 6858000"/>
              <a:gd name="connsiteX3" fmla="*/ 41303 w 7809022"/>
              <a:gd name="connsiteY3" fmla="*/ 6858000 h 6858000"/>
              <a:gd name="connsiteX4" fmla="*/ 41303 w 7809022"/>
              <a:gd name="connsiteY4" fmla="*/ 6822879 h 6858000"/>
              <a:gd name="connsiteX5" fmla="*/ 41303 w 7809022"/>
              <a:gd name="connsiteY5" fmla="*/ 6667752 h 6858000"/>
              <a:gd name="connsiteX6" fmla="*/ 0 w 7809022"/>
              <a:gd name="connsiteY6" fmla="*/ 3813425 h 6858000"/>
              <a:gd name="connsiteX7" fmla="*/ 41303 w 7809022"/>
              <a:gd name="connsiteY7" fmla="*/ 2572413 h 6858000"/>
              <a:gd name="connsiteX8" fmla="*/ 41303 w 7809022"/>
              <a:gd name="connsiteY8" fmla="*/ 1496869 h 6858000"/>
              <a:gd name="connsiteX9" fmla="*/ 41303 w 7809022"/>
              <a:gd name="connsiteY9" fmla="*/ 1083199 h 6858000"/>
              <a:gd name="connsiteX10" fmla="*/ 0 w 7809022"/>
              <a:gd name="connsiteY10" fmla="*/ 545427 h 6858000"/>
              <a:gd name="connsiteX11" fmla="*/ 22153 w 7809022"/>
              <a:gd name="connsiteY11" fmla="*/ 10166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09022" h="6858000">
                <a:moveTo>
                  <a:pt x="27229" y="0"/>
                </a:moveTo>
                <a:lnTo>
                  <a:pt x="7809022" y="0"/>
                </a:lnTo>
                <a:lnTo>
                  <a:pt x="7809022" y="6858000"/>
                </a:lnTo>
                <a:lnTo>
                  <a:pt x="41303" y="6858000"/>
                </a:lnTo>
                <a:lnTo>
                  <a:pt x="41303" y="6822879"/>
                </a:lnTo>
                <a:cubicBezTo>
                  <a:pt x="41303" y="6760828"/>
                  <a:pt x="41303" y="6709119"/>
                  <a:pt x="41303" y="6667752"/>
                </a:cubicBezTo>
                <a:cubicBezTo>
                  <a:pt x="41303" y="6667752"/>
                  <a:pt x="41303" y="6667752"/>
                  <a:pt x="0" y="3813425"/>
                </a:cubicBezTo>
                <a:cubicBezTo>
                  <a:pt x="0" y="3813425"/>
                  <a:pt x="0" y="3813425"/>
                  <a:pt x="41303" y="2572413"/>
                </a:cubicBezTo>
                <a:cubicBezTo>
                  <a:pt x="41303" y="2572413"/>
                  <a:pt x="41303" y="2572413"/>
                  <a:pt x="41303" y="1496869"/>
                </a:cubicBezTo>
                <a:cubicBezTo>
                  <a:pt x="41303" y="1455502"/>
                  <a:pt x="41303" y="1290034"/>
                  <a:pt x="41303" y="1083199"/>
                </a:cubicBezTo>
                <a:cubicBezTo>
                  <a:pt x="41303" y="876364"/>
                  <a:pt x="0" y="710895"/>
                  <a:pt x="0" y="545427"/>
                </a:cubicBezTo>
                <a:cubicBezTo>
                  <a:pt x="0" y="545427"/>
                  <a:pt x="0" y="545427"/>
                  <a:pt x="22153" y="101661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C3607C51-ED89-681B-4CA3-E986E08F58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1792629"/>
              </p:ext>
            </p:extLst>
          </p:nvPr>
        </p:nvGraphicFramePr>
        <p:xfrm>
          <a:off x="5260361" y="728664"/>
          <a:ext cx="6188689" cy="5409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7605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CECF0-3983-B67D-17C0-EBD7F6655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1D70B70-1FDC-3102-2000-07D907D716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981" y="449709"/>
            <a:ext cx="11857704" cy="595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659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FB0E95-9CAE-4968-A118-2B9F7C8BBB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BBC371-361C-45F7-9235-C3252E336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E2000A-BE42-1221-2FBB-68BBD3F09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681586"/>
          </a:xfrm>
        </p:spPr>
        <p:txBody>
          <a:bodyPr wrap="square">
            <a:normAutofit fontScale="90000"/>
          </a:bodyPr>
          <a:lstStyle/>
          <a:p>
            <a:r>
              <a:rPr lang="en-US" b="1" u="sng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Question 8: Does a Higher Follower Count Correlate with Higher Conversion Rates?</a:t>
            </a:r>
            <a:br>
              <a:rPr lang="en-US" sz="25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2500" dirty="0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4172FA92-6FD3-495F-95A0-4FD85861D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0" y="1734458"/>
            <a:ext cx="12191501" cy="5123544"/>
          </a:xfrm>
          <a:custGeom>
            <a:avLst/>
            <a:gdLst>
              <a:gd name="connsiteX0" fmla="*/ 9255953 w 12191501"/>
              <a:gd name="connsiteY0" fmla="*/ 0 h 4430825"/>
              <a:gd name="connsiteX1" fmla="*/ 10762189 w 12191501"/>
              <a:gd name="connsiteY1" fmla="*/ 67992 h 4430825"/>
              <a:gd name="connsiteX2" fmla="*/ 11364025 w 12191501"/>
              <a:gd name="connsiteY2" fmla="*/ 57486 h 4430825"/>
              <a:gd name="connsiteX3" fmla="*/ 12096632 w 12191501"/>
              <a:gd name="connsiteY3" fmla="*/ 44699 h 4430825"/>
              <a:gd name="connsiteX4" fmla="*/ 12191501 w 12191501"/>
              <a:gd name="connsiteY4" fmla="*/ 43042 h 4430825"/>
              <a:gd name="connsiteX5" fmla="*/ 12191501 w 12191501"/>
              <a:gd name="connsiteY5" fmla="*/ 4430825 h 4430825"/>
              <a:gd name="connsiteX6" fmla="*/ 0 w 12191501"/>
              <a:gd name="connsiteY6" fmla="*/ 4430825 h 4430825"/>
              <a:gd name="connsiteX7" fmla="*/ 10182 w 12191501"/>
              <a:gd name="connsiteY7" fmla="*/ 95053 h 4430825"/>
              <a:gd name="connsiteX8" fmla="*/ 70972 w 12191501"/>
              <a:gd name="connsiteY8" fmla="*/ 97164 h 4430825"/>
              <a:gd name="connsiteX9" fmla="*/ 1281624 w 12191501"/>
              <a:gd name="connsiteY9" fmla="*/ 139193 h 4430825"/>
              <a:gd name="connsiteX10" fmla="*/ 2485297 w 12191501"/>
              <a:gd name="connsiteY10" fmla="*/ 118183 h 4430825"/>
              <a:gd name="connsiteX11" fmla="*/ 3237591 w 12191501"/>
              <a:gd name="connsiteY11" fmla="*/ 105051 h 4430825"/>
              <a:gd name="connsiteX12" fmla="*/ 3989887 w 12191501"/>
              <a:gd name="connsiteY12" fmla="*/ 91920 h 4430825"/>
              <a:gd name="connsiteX13" fmla="*/ 9255953 w 12191501"/>
              <a:gd name="connsiteY13" fmla="*/ 0 h 443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1501" h="4430825">
                <a:moveTo>
                  <a:pt x="9255953" y="0"/>
                </a:moveTo>
                <a:cubicBezTo>
                  <a:pt x="10762189" y="67992"/>
                  <a:pt x="10762189" y="67992"/>
                  <a:pt x="10762189" y="67992"/>
                </a:cubicBezTo>
                <a:cubicBezTo>
                  <a:pt x="11364025" y="57486"/>
                  <a:pt x="11364025" y="57486"/>
                  <a:pt x="11364025" y="57486"/>
                </a:cubicBezTo>
                <a:cubicBezTo>
                  <a:pt x="11589714" y="53547"/>
                  <a:pt x="11836561" y="49238"/>
                  <a:pt x="12096632" y="44699"/>
                </a:cubicBezTo>
                <a:lnTo>
                  <a:pt x="12191501" y="43042"/>
                </a:lnTo>
                <a:lnTo>
                  <a:pt x="12191501" y="4430825"/>
                </a:lnTo>
                <a:lnTo>
                  <a:pt x="0" y="4430825"/>
                </a:lnTo>
                <a:lnTo>
                  <a:pt x="10182" y="95053"/>
                </a:lnTo>
                <a:lnTo>
                  <a:pt x="70972" y="97164"/>
                </a:lnTo>
                <a:cubicBezTo>
                  <a:pt x="1281624" y="139193"/>
                  <a:pt x="1281624" y="139193"/>
                  <a:pt x="1281624" y="139193"/>
                </a:cubicBezTo>
                <a:cubicBezTo>
                  <a:pt x="2485297" y="118183"/>
                  <a:pt x="2485297" y="118183"/>
                  <a:pt x="2485297" y="118183"/>
                </a:cubicBezTo>
                <a:cubicBezTo>
                  <a:pt x="2786215" y="112930"/>
                  <a:pt x="2936672" y="110304"/>
                  <a:pt x="3237591" y="105051"/>
                </a:cubicBezTo>
                <a:cubicBezTo>
                  <a:pt x="3538508" y="99800"/>
                  <a:pt x="3839426" y="94546"/>
                  <a:pt x="3989887" y="91920"/>
                </a:cubicBezTo>
                <a:cubicBezTo>
                  <a:pt x="9255953" y="0"/>
                  <a:pt x="9255953" y="0"/>
                  <a:pt x="9255953" y="0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0E3C9A15-C1D3-ABF7-C8FD-A77DB06A03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4392104"/>
              </p:ext>
            </p:extLst>
          </p:nvPr>
        </p:nvGraphicFramePr>
        <p:xfrm>
          <a:off x="720725" y="2541588"/>
          <a:ext cx="10728325" cy="3587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1105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9646535-AEF6-4883-A4F9-EEC1F8B43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7D7CF97-C693-42F5-AFF2-9C4EBFE0E6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A92A802-BFC5-2BD2-2FD6-E16A40F486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4" b="920"/>
          <a:stretch>
            <a:fillRect/>
          </a:stretch>
        </p:blipFill>
        <p:spPr>
          <a:xfrm>
            <a:off x="20" y="10"/>
            <a:ext cx="12191980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83623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43A3C-4DFE-E11F-BC1E-72CE3DA81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Question 9: How does ad spend vary between platforms?</a:t>
            </a:r>
            <a:b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683920-45AD-AB94-3376-0C3A26AFB2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4244" y="1857378"/>
            <a:ext cx="3902503" cy="4857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0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Instagram (22.8%) and Twitter (22.54%) have the highest ad spend, indicating strong investment in paid marketing.</a:t>
            </a:r>
            <a:endParaRPr lang="en-US" sz="20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0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TikTok (20.03%) and Facebook (19.2%) receive moderate ad budgets, likely for targeted campaigns.</a:t>
            </a:r>
            <a:endParaRPr lang="en-US" sz="20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0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LinkedIn (15.44%) has the lowest ad spend, suggesting a lower focus on paid ads.</a:t>
            </a:r>
            <a:endParaRPr lang="en-US" sz="20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6" name="Picture 5" descr="A pie chart with numbers and a few different colored circles&#10;&#10;AI-generated content may be incorrect.">
            <a:extLst>
              <a:ext uri="{FF2B5EF4-FFF2-40B4-BE49-F238E27FC236}">
                <a16:creationId xmlns:a16="http://schemas.microsoft.com/office/drawing/2014/main" id="{86467A9A-B76C-6CCA-125D-30B62160C4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2723" y="1411826"/>
            <a:ext cx="7369277" cy="544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793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5B5D0-1DC9-9AB8-4D7C-2094A38D3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/>
              <a:t>Question 10: Which platform has the best engagement-to-reach ratio?</a:t>
            </a:r>
            <a:endParaRPr lang="en-US" u="s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22CFC4-B3BB-1549-C659-86E6987BB7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9999" y="2108574"/>
            <a:ext cx="3601277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Instagram (3.9) has the best engagement-to-reach ratio, making it ideal for organic content.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TikTok &amp; Twitter (3.7 each) are highly effective for audience engagement.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LinkedIn (3.6) &amp; Facebook (3.3) have weaker engagement per impression. 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957D3A78-7536-55D8-CF90-4F854A46A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1136" y="1964232"/>
            <a:ext cx="6437185" cy="4067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2987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a number of bars&#10;&#10;AI-generated content may be incorrect.">
            <a:extLst>
              <a:ext uri="{FF2B5EF4-FFF2-40B4-BE49-F238E27FC236}">
                <a16:creationId xmlns:a16="http://schemas.microsoft.com/office/drawing/2014/main" id="{49EF56C7-AF81-F5D2-FFE1-3D09DB156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7253"/>
            <a:ext cx="12192000" cy="4935844"/>
          </a:xfrm>
        </p:spPr>
      </p:pic>
    </p:spTree>
    <p:extLst>
      <p:ext uri="{BB962C8B-B14F-4D97-AF65-F5344CB8AC3E}">
        <p14:creationId xmlns:p14="http://schemas.microsoft.com/office/powerpoint/2010/main" val="41200484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D5163EE-A195-4FE2-B927-55D0FD286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26014B-3EE4-4A2B-BDB9-FBEA6F80C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A3270-8FC1-01B4-91EF-BBCA59931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489439"/>
            <a:ext cx="5003800" cy="3481704"/>
          </a:xfrm>
        </p:spPr>
        <p:txBody>
          <a:bodyPr anchor="ctr">
            <a:normAutofit/>
          </a:bodyPr>
          <a:lstStyle/>
          <a:p>
            <a:pPr algn="ctr"/>
            <a:r>
              <a:rPr lang="en-US" sz="5600" b="1" u="sng" dirty="0"/>
              <a:t>Dashboard Functionality &amp; Interactivity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21BEF2-67E7-4911-BD5A-82F7D891AD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111553" y="606269"/>
            <a:ext cx="2088038" cy="719230"/>
            <a:chOff x="4532666" y="505937"/>
            <a:chExt cx="2981730" cy="1027064"/>
          </a:xfrm>
        </p:grpSpPr>
        <p:sp>
          <p:nvSpPr>
            <p:cNvPr id="15" name="Freeform 78">
              <a:extLst>
                <a:ext uri="{FF2B5EF4-FFF2-40B4-BE49-F238E27FC236}">
                  <a16:creationId xmlns:a16="http://schemas.microsoft.com/office/drawing/2014/main" id="{DB71B667-A388-491C-8B28-77CC5546E8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4532666" y="754398"/>
              <a:ext cx="694205" cy="713383"/>
            </a:xfrm>
            <a:custGeom>
              <a:avLst/>
              <a:gdLst>
                <a:gd name="T0" fmla="*/ 32 w 58"/>
                <a:gd name="T1" fmla="*/ 56 h 60"/>
                <a:gd name="T2" fmla="*/ 24 w 58"/>
                <a:gd name="T3" fmla="*/ 48 h 60"/>
                <a:gd name="T4" fmla="*/ 14 w 58"/>
                <a:gd name="T5" fmla="*/ 36 h 60"/>
                <a:gd name="T6" fmla="*/ 7 w 58"/>
                <a:gd name="T7" fmla="*/ 29 h 60"/>
                <a:gd name="T8" fmla="*/ 1 w 58"/>
                <a:gd name="T9" fmla="*/ 17 h 60"/>
                <a:gd name="T10" fmla="*/ 7 w 58"/>
                <a:gd name="T11" fmla="*/ 4 h 60"/>
                <a:gd name="T12" fmla="*/ 17 w 58"/>
                <a:gd name="T13" fmla="*/ 1 h 60"/>
                <a:gd name="T14" fmla="*/ 29 w 58"/>
                <a:gd name="T15" fmla="*/ 6 h 60"/>
                <a:gd name="T16" fmla="*/ 31 w 58"/>
                <a:gd name="T17" fmla="*/ 8 h 60"/>
                <a:gd name="T18" fmla="*/ 38 w 58"/>
                <a:gd name="T19" fmla="*/ 15 h 60"/>
                <a:gd name="T20" fmla="*/ 44 w 58"/>
                <a:gd name="T21" fmla="*/ 22 h 60"/>
                <a:gd name="T22" fmla="*/ 54 w 58"/>
                <a:gd name="T23" fmla="*/ 33 h 60"/>
                <a:gd name="T24" fmla="*/ 58 w 58"/>
                <a:gd name="T25" fmla="*/ 44 h 60"/>
                <a:gd name="T26" fmla="*/ 53 w 58"/>
                <a:gd name="T27" fmla="*/ 54 h 60"/>
                <a:gd name="T28" fmla="*/ 42 w 58"/>
                <a:gd name="T29" fmla="*/ 60 h 60"/>
                <a:gd name="T30" fmla="*/ 32 w 58"/>
                <a:gd name="T31" fmla="*/ 5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8" h="60">
                  <a:moveTo>
                    <a:pt x="32" y="56"/>
                  </a:moveTo>
                  <a:cubicBezTo>
                    <a:pt x="30" y="54"/>
                    <a:pt x="31" y="55"/>
                    <a:pt x="24" y="48"/>
                  </a:cubicBezTo>
                  <a:cubicBezTo>
                    <a:pt x="17" y="40"/>
                    <a:pt x="14" y="36"/>
                    <a:pt x="14" y="36"/>
                  </a:cubicBezTo>
                  <a:cubicBezTo>
                    <a:pt x="8" y="30"/>
                    <a:pt x="14" y="37"/>
                    <a:pt x="7" y="29"/>
                  </a:cubicBezTo>
                  <a:cubicBezTo>
                    <a:pt x="3" y="24"/>
                    <a:pt x="1" y="20"/>
                    <a:pt x="1" y="17"/>
                  </a:cubicBezTo>
                  <a:cubicBezTo>
                    <a:pt x="0" y="13"/>
                    <a:pt x="3" y="9"/>
                    <a:pt x="7" y="4"/>
                  </a:cubicBezTo>
                  <a:cubicBezTo>
                    <a:pt x="10" y="2"/>
                    <a:pt x="13" y="0"/>
                    <a:pt x="17" y="1"/>
                  </a:cubicBezTo>
                  <a:cubicBezTo>
                    <a:pt x="21" y="1"/>
                    <a:pt x="25" y="3"/>
                    <a:pt x="29" y="6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3" y="11"/>
                    <a:pt x="37" y="15"/>
                    <a:pt x="38" y="15"/>
                  </a:cubicBezTo>
                  <a:cubicBezTo>
                    <a:pt x="42" y="20"/>
                    <a:pt x="40" y="18"/>
                    <a:pt x="44" y="22"/>
                  </a:cubicBezTo>
                  <a:cubicBezTo>
                    <a:pt x="51" y="29"/>
                    <a:pt x="50" y="29"/>
                    <a:pt x="54" y="33"/>
                  </a:cubicBezTo>
                  <a:cubicBezTo>
                    <a:pt x="57" y="37"/>
                    <a:pt x="58" y="40"/>
                    <a:pt x="58" y="44"/>
                  </a:cubicBezTo>
                  <a:cubicBezTo>
                    <a:pt x="58" y="47"/>
                    <a:pt x="56" y="50"/>
                    <a:pt x="53" y="54"/>
                  </a:cubicBezTo>
                  <a:cubicBezTo>
                    <a:pt x="49" y="58"/>
                    <a:pt x="45" y="60"/>
                    <a:pt x="42" y="60"/>
                  </a:cubicBezTo>
                  <a:cubicBezTo>
                    <a:pt x="39" y="60"/>
                    <a:pt x="36" y="59"/>
                    <a:pt x="32" y="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23" name="Freeform 79">
              <a:extLst>
                <a:ext uri="{FF2B5EF4-FFF2-40B4-BE49-F238E27FC236}">
                  <a16:creationId xmlns:a16="http://schemas.microsoft.com/office/drawing/2014/main" id="{A4C247D3-09C9-40AC-A235-65D0E8757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5791465" y="505937"/>
              <a:ext cx="587404" cy="943792"/>
            </a:xfrm>
            <a:custGeom>
              <a:avLst/>
              <a:gdLst>
                <a:gd name="T0" fmla="*/ 15 w 49"/>
                <a:gd name="T1" fmla="*/ 65 h 79"/>
                <a:gd name="T2" fmla="*/ 12 w 49"/>
                <a:gd name="T3" fmla="*/ 54 h 79"/>
                <a:gd name="T4" fmla="*/ 8 w 49"/>
                <a:gd name="T5" fmla="*/ 33 h 79"/>
                <a:gd name="T6" fmla="*/ 38 w 49"/>
                <a:gd name="T7" fmla="*/ 24 h 79"/>
                <a:gd name="T8" fmla="*/ 45 w 49"/>
                <a:gd name="T9" fmla="*/ 70 h 79"/>
                <a:gd name="T10" fmla="*/ 15 w 49"/>
                <a:gd name="T11" fmla="*/ 6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79">
                  <a:moveTo>
                    <a:pt x="15" y="65"/>
                  </a:moveTo>
                  <a:cubicBezTo>
                    <a:pt x="14" y="59"/>
                    <a:pt x="13" y="58"/>
                    <a:pt x="12" y="54"/>
                  </a:cubicBezTo>
                  <a:cubicBezTo>
                    <a:pt x="11" y="45"/>
                    <a:pt x="10" y="40"/>
                    <a:pt x="8" y="33"/>
                  </a:cubicBezTo>
                  <a:cubicBezTo>
                    <a:pt x="0" y="9"/>
                    <a:pt x="34" y="0"/>
                    <a:pt x="38" y="24"/>
                  </a:cubicBezTo>
                  <a:cubicBezTo>
                    <a:pt x="43" y="43"/>
                    <a:pt x="49" y="60"/>
                    <a:pt x="45" y="70"/>
                  </a:cubicBezTo>
                  <a:cubicBezTo>
                    <a:pt x="38" y="77"/>
                    <a:pt x="19" y="79"/>
                    <a:pt x="15" y="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25" name="Freeform 85">
              <a:extLst>
                <a:ext uri="{FF2B5EF4-FFF2-40B4-BE49-F238E27FC236}">
                  <a16:creationId xmlns:a16="http://schemas.microsoft.com/office/drawing/2014/main" id="{1E271542-73D8-45EF-B446-3D6D1EF8F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7087193" y="757585"/>
              <a:ext cx="427203" cy="775416"/>
            </a:xfrm>
            <a:custGeom>
              <a:avLst/>
              <a:gdLst>
                <a:gd name="T0" fmla="*/ 36 w 36"/>
                <a:gd name="T1" fmla="*/ 15 h 65"/>
                <a:gd name="T2" fmla="*/ 34 w 36"/>
                <a:gd name="T3" fmla="*/ 5 h 65"/>
                <a:gd name="T4" fmla="*/ 28 w 36"/>
                <a:gd name="T5" fmla="*/ 1 h 65"/>
                <a:gd name="T6" fmla="*/ 23 w 36"/>
                <a:gd name="T7" fmla="*/ 0 h 65"/>
                <a:gd name="T8" fmla="*/ 13 w 36"/>
                <a:gd name="T9" fmla="*/ 1 h 65"/>
                <a:gd name="T10" fmla="*/ 7 w 36"/>
                <a:gd name="T11" fmla="*/ 9 h 65"/>
                <a:gd name="T12" fmla="*/ 4 w 36"/>
                <a:gd name="T13" fmla="*/ 19 h 65"/>
                <a:gd name="T14" fmla="*/ 0 w 36"/>
                <a:gd name="T15" fmla="*/ 44 h 65"/>
                <a:gd name="T16" fmla="*/ 1 w 36"/>
                <a:gd name="T17" fmla="*/ 58 h 65"/>
                <a:gd name="T18" fmla="*/ 8 w 36"/>
                <a:gd name="T19" fmla="*/ 64 h 65"/>
                <a:gd name="T20" fmla="*/ 16 w 36"/>
                <a:gd name="T21" fmla="*/ 65 h 65"/>
                <a:gd name="T22" fmla="*/ 25 w 36"/>
                <a:gd name="T23" fmla="*/ 63 h 65"/>
                <a:gd name="T24" fmla="*/ 31 w 36"/>
                <a:gd name="T25" fmla="*/ 55 h 65"/>
                <a:gd name="T26" fmla="*/ 34 w 36"/>
                <a:gd name="T27" fmla="*/ 40 h 65"/>
                <a:gd name="T28" fmla="*/ 36 w 36"/>
                <a:gd name="T29" fmla="*/ 1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" h="65">
                  <a:moveTo>
                    <a:pt x="36" y="15"/>
                  </a:moveTo>
                  <a:cubicBezTo>
                    <a:pt x="36" y="10"/>
                    <a:pt x="35" y="7"/>
                    <a:pt x="34" y="5"/>
                  </a:cubicBezTo>
                  <a:cubicBezTo>
                    <a:pt x="33" y="3"/>
                    <a:pt x="31" y="2"/>
                    <a:pt x="28" y="1"/>
                  </a:cubicBezTo>
                  <a:cubicBezTo>
                    <a:pt x="27" y="1"/>
                    <a:pt x="25" y="1"/>
                    <a:pt x="23" y="0"/>
                  </a:cubicBezTo>
                  <a:cubicBezTo>
                    <a:pt x="19" y="0"/>
                    <a:pt x="16" y="0"/>
                    <a:pt x="13" y="1"/>
                  </a:cubicBezTo>
                  <a:cubicBezTo>
                    <a:pt x="11" y="2"/>
                    <a:pt x="9" y="4"/>
                    <a:pt x="7" y="9"/>
                  </a:cubicBezTo>
                  <a:cubicBezTo>
                    <a:pt x="6" y="13"/>
                    <a:pt x="5" y="17"/>
                    <a:pt x="4" y="19"/>
                  </a:cubicBezTo>
                  <a:cubicBezTo>
                    <a:pt x="2" y="29"/>
                    <a:pt x="0" y="44"/>
                    <a:pt x="0" y="44"/>
                  </a:cubicBezTo>
                  <a:cubicBezTo>
                    <a:pt x="0" y="50"/>
                    <a:pt x="0" y="55"/>
                    <a:pt x="1" y="58"/>
                  </a:cubicBezTo>
                  <a:cubicBezTo>
                    <a:pt x="2" y="61"/>
                    <a:pt x="5" y="63"/>
                    <a:pt x="8" y="64"/>
                  </a:cubicBezTo>
                  <a:cubicBezTo>
                    <a:pt x="11" y="65"/>
                    <a:pt x="13" y="65"/>
                    <a:pt x="16" y="65"/>
                  </a:cubicBezTo>
                  <a:cubicBezTo>
                    <a:pt x="19" y="65"/>
                    <a:pt x="22" y="64"/>
                    <a:pt x="25" y="63"/>
                  </a:cubicBezTo>
                  <a:cubicBezTo>
                    <a:pt x="28" y="61"/>
                    <a:pt x="30" y="59"/>
                    <a:pt x="31" y="55"/>
                  </a:cubicBezTo>
                  <a:cubicBezTo>
                    <a:pt x="32" y="50"/>
                    <a:pt x="31" y="54"/>
                    <a:pt x="34" y="40"/>
                  </a:cubicBezTo>
                  <a:lnTo>
                    <a:pt x="36" y="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372D784-2C49-426C-8CDD-9DEACF851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163312" y="5549194"/>
            <a:ext cx="2117174" cy="588806"/>
            <a:chOff x="4549904" y="5078157"/>
            <a:chExt cx="3023338" cy="840818"/>
          </a:xfrm>
        </p:grpSpPr>
        <p:sp>
          <p:nvSpPr>
            <p:cNvPr id="20" name="Freeform 80">
              <a:extLst>
                <a:ext uri="{FF2B5EF4-FFF2-40B4-BE49-F238E27FC236}">
                  <a16:creationId xmlns:a16="http://schemas.microsoft.com/office/drawing/2014/main" id="{580EF066-2455-43F9-BCBB-72BC07C79B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5690691" y="5352589"/>
              <a:ext cx="749228" cy="383544"/>
            </a:xfrm>
            <a:custGeom>
              <a:avLst/>
              <a:gdLst>
                <a:gd name="T0" fmla="*/ 53 w 66"/>
                <a:gd name="T1" fmla="*/ 33 h 34"/>
                <a:gd name="T2" fmla="*/ 39 w 66"/>
                <a:gd name="T3" fmla="*/ 33 h 34"/>
                <a:gd name="T4" fmla="*/ 21 w 66"/>
                <a:gd name="T5" fmla="*/ 33 h 34"/>
                <a:gd name="T6" fmla="*/ 12 w 66"/>
                <a:gd name="T7" fmla="*/ 32 h 34"/>
                <a:gd name="T8" fmla="*/ 3 w 66"/>
                <a:gd name="T9" fmla="*/ 28 h 34"/>
                <a:gd name="T10" fmla="*/ 0 w 66"/>
                <a:gd name="T11" fmla="*/ 21 h 34"/>
                <a:gd name="T12" fmla="*/ 0 w 66"/>
                <a:gd name="T13" fmla="*/ 16 h 34"/>
                <a:gd name="T14" fmla="*/ 3 w 66"/>
                <a:gd name="T15" fmla="*/ 7 h 34"/>
                <a:gd name="T16" fmla="*/ 11 w 66"/>
                <a:gd name="T17" fmla="*/ 3 h 34"/>
                <a:gd name="T18" fmla="*/ 23 w 66"/>
                <a:gd name="T19" fmla="*/ 2 h 34"/>
                <a:gd name="T20" fmla="*/ 43 w 66"/>
                <a:gd name="T21" fmla="*/ 0 h 34"/>
                <a:gd name="T22" fmla="*/ 48 w 66"/>
                <a:gd name="T23" fmla="*/ 0 h 34"/>
                <a:gd name="T24" fmla="*/ 62 w 66"/>
                <a:gd name="T25" fmla="*/ 4 h 34"/>
                <a:gd name="T26" fmla="*/ 66 w 66"/>
                <a:gd name="T27" fmla="*/ 13 h 34"/>
                <a:gd name="T28" fmla="*/ 66 w 66"/>
                <a:gd name="T29" fmla="*/ 20 h 34"/>
                <a:gd name="T30" fmla="*/ 62 w 66"/>
                <a:gd name="T31" fmla="*/ 29 h 34"/>
                <a:gd name="T32" fmla="*/ 53 w 66"/>
                <a:gd name="T33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6" h="34">
                  <a:moveTo>
                    <a:pt x="53" y="33"/>
                  </a:moveTo>
                  <a:cubicBezTo>
                    <a:pt x="47" y="33"/>
                    <a:pt x="53" y="34"/>
                    <a:pt x="39" y="33"/>
                  </a:cubicBezTo>
                  <a:cubicBezTo>
                    <a:pt x="24" y="33"/>
                    <a:pt x="21" y="33"/>
                    <a:pt x="21" y="33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7" y="31"/>
                    <a:pt x="4" y="30"/>
                    <a:pt x="3" y="28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0" y="19"/>
                    <a:pt x="0" y="16"/>
                  </a:cubicBezTo>
                  <a:cubicBezTo>
                    <a:pt x="0" y="13"/>
                    <a:pt x="1" y="10"/>
                    <a:pt x="3" y="7"/>
                  </a:cubicBezTo>
                  <a:cubicBezTo>
                    <a:pt x="4" y="5"/>
                    <a:pt x="7" y="3"/>
                    <a:pt x="11" y="3"/>
                  </a:cubicBezTo>
                  <a:cubicBezTo>
                    <a:pt x="16" y="2"/>
                    <a:pt x="20" y="2"/>
                    <a:pt x="23" y="2"/>
                  </a:cubicBezTo>
                  <a:cubicBezTo>
                    <a:pt x="32" y="1"/>
                    <a:pt x="37" y="0"/>
                    <a:pt x="43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4" y="1"/>
                    <a:pt x="59" y="3"/>
                    <a:pt x="62" y="4"/>
                  </a:cubicBezTo>
                  <a:cubicBezTo>
                    <a:pt x="65" y="6"/>
                    <a:pt x="66" y="9"/>
                    <a:pt x="66" y="13"/>
                  </a:cubicBezTo>
                  <a:cubicBezTo>
                    <a:pt x="66" y="15"/>
                    <a:pt x="66" y="17"/>
                    <a:pt x="66" y="20"/>
                  </a:cubicBezTo>
                  <a:cubicBezTo>
                    <a:pt x="65" y="23"/>
                    <a:pt x="64" y="26"/>
                    <a:pt x="62" y="29"/>
                  </a:cubicBezTo>
                  <a:cubicBezTo>
                    <a:pt x="60" y="31"/>
                    <a:pt x="57" y="32"/>
                    <a:pt x="53" y="3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21" name="Freeform 84">
              <a:extLst>
                <a:ext uri="{FF2B5EF4-FFF2-40B4-BE49-F238E27FC236}">
                  <a16:creationId xmlns:a16="http://schemas.microsoft.com/office/drawing/2014/main" id="{1BD934EC-DDB8-49EE-9CF0-A69A65D8CC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274527">
              <a:off x="6910134" y="5062687"/>
              <a:ext cx="647637" cy="678578"/>
            </a:xfrm>
            <a:custGeom>
              <a:avLst/>
              <a:gdLst>
                <a:gd name="T0" fmla="*/ 4 w 57"/>
                <a:gd name="T1" fmla="*/ 34 h 60"/>
                <a:gd name="T2" fmla="*/ 17 w 57"/>
                <a:gd name="T3" fmla="*/ 18 h 60"/>
                <a:gd name="T4" fmla="*/ 26 w 57"/>
                <a:gd name="T5" fmla="*/ 8 h 60"/>
                <a:gd name="T6" fmla="*/ 29 w 57"/>
                <a:gd name="T7" fmla="*/ 5 h 60"/>
                <a:gd name="T8" fmla="*/ 41 w 57"/>
                <a:gd name="T9" fmla="*/ 0 h 60"/>
                <a:gd name="T10" fmla="*/ 51 w 57"/>
                <a:gd name="T11" fmla="*/ 6 h 60"/>
                <a:gd name="T12" fmla="*/ 56 w 57"/>
                <a:gd name="T13" fmla="*/ 16 h 60"/>
                <a:gd name="T14" fmla="*/ 51 w 57"/>
                <a:gd name="T15" fmla="*/ 28 h 60"/>
                <a:gd name="T16" fmla="*/ 29 w 57"/>
                <a:gd name="T17" fmla="*/ 53 h 60"/>
                <a:gd name="T18" fmla="*/ 17 w 57"/>
                <a:gd name="T19" fmla="*/ 59 h 60"/>
                <a:gd name="T20" fmla="*/ 5 w 57"/>
                <a:gd name="T21" fmla="*/ 54 h 60"/>
                <a:gd name="T22" fmla="*/ 0 w 57"/>
                <a:gd name="T23" fmla="*/ 45 h 60"/>
                <a:gd name="T24" fmla="*/ 4 w 57"/>
                <a:gd name="T25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" h="60">
                  <a:moveTo>
                    <a:pt x="4" y="34"/>
                  </a:moveTo>
                  <a:cubicBezTo>
                    <a:pt x="5" y="33"/>
                    <a:pt x="17" y="18"/>
                    <a:pt x="17" y="18"/>
                  </a:cubicBezTo>
                  <a:cubicBezTo>
                    <a:pt x="21" y="14"/>
                    <a:pt x="24" y="10"/>
                    <a:pt x="26" y="8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34" y="2"/>
                    <a:pt x="38" y="0"/>
                    <a:pt x="41" y="0"/>
                  </a:cubicBezTo>
                  <a:cubicBezTo>
                    <a:pt x="44" y="1"/>
                    <a:pt x="47" y="2"/>
                    <a:pt x="51" y="6"/>
                  </a:cubicBezTo>
                  <a:cubicBezTo>
                    <a:pt x="55" y="10"/>
                    <a:pt x="57" y="13"/>
                    <a:pt x="56" y="16"/>
                  </a:cubicBezTo>
                  <a:cubicBezTo>
                    <a:pt x="56" y="19"/>
                    <a:pt x="54" y="23"/>
                    <a:pt x="51" y="28"/>
                  </a:cubicBezTo>
                  <a:cubicBezTo>
                    <a:pt x="51" y="28"/>
                    <a:pt x="33" y="48"/>
                    <a:pt x="29" y="53"/>
                  </a:cubicBezTo>
                  <a:cubicBezTo>
                    <a:pt x="25" y="57"/>
                    <a:pt x="21" y="59"/>
                    <a:pt x="17" y="59"/>
                  </a:cubicBezTo>
                  <a:cubicBezTo>
                    <a:pt x="13" y="60"/>
                    <a:pt x="9" y="58"/>
                    <a:pt x="5" y="54"/>
                  </a:cubicBezTo>
                  <a:cubicBezTo>
                    <a:pt x="2" y="51"/>
                    <a:pt x="0" y="48"/>
                    <a:pt x="0" y="45"/>
                  </a:cubicBezTo>
                  <a:cubicBezTo>
                    <a:pt x="0" y="42"/>
                    <a:pt x="2" y="38"/>
                    <a:pt x="4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22" name="Freeform 87">
              <a:extLst>
                <a:ext uri="{FF2B5EF4-FFF2-40B4-BE49-F238E27FC236}">
                  <a16:creationId xmlns:a16="http://schemas.microsoft.com/office/drawing/2014/main" id="{F9DBCFB1-612D-42CA-B73A-49A0340C9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4430858">
              <a:off x="4571743" y="5071596"/>
              <a:ext cx="626472" cy="670149"/>
            </a:xfrm>
            <a:custGeom>
              <a:avLst/>
              <a:gdLst>
                <a:gd name="T0" fmla="*/ 0 w 55"/>
                <a:gd name="T1" fmla="*/ 17 h 59"/>
                <a:gd name="T2" fmla="*/ 1 w 55"/>
                <a:gd name="T3" fmla="*/ 11 h 59"/>
                <a:gd name="T4" fmla="*/ 4 w 55"/>
                <a:gd name="T5" fmla="*/ 6 h 59"/>
                <a:gd name="T6" fmla="*/ 7 w 55"/>
                <a:gd name="T7" fmla="*/ 4 h 59"/>
                <a:gd name="T8" fmla="*/ 14 w 55"/>
                <a:gd name="T9" fmla="*/ 0 h 59"/>
                <a:gd name="T10" fmla="*/ 23 w 55"/>
                <a:gd name="T11" fmla="*/ 3 h 59"/>
                <a:gd name="T12" fmla="*/ 31 w 55"/>
                <a:gd name="T13" fmla="*/ 11 h 59"/>
                <a:gd name="T14" fmla="*/ 38 w 55"/>
                <a:gd name="T15" fmla="*/ 20 h 59"/>
                <a:gd name="T16" fmla="*/ 48 w 55"/>
                <a:gd name="T17" fmla="*/ 31 h 59"/>
                <a:gd name="T18" fmla="*/ 55 w 55"/>
                <a:gd name="T19" fmla="*/ 43 h 59"/>
                <a:gd name="T20" fmla="*/ 49 w 55"/>
                <a:gd name="T21" fmla="*/ 55 h 59"/>
                <a:gd name="T22" fmla="*/ 38 w 55"/>
                <a:gd name="T23" fmla="*/ 59 h 59"/>
                <a:gd name="T24" fmla="*/ 33 w 55"/>
                <a:gd name="T25" fmla="*/ 58 h 59"/>
                <a:gd name="T26" fmla="*/ 26 w 55"/>
                <a:gd name="T27" fmla="*/ 53 h 59"/>
                <a:gd name="T28" fmla="*/ 5 w 55"/>
                <a:gd name="T29" fmla="*/ 27 h 59"/>
                <a:gd name="T30" fmla="*/ 0 w 55"/>
                <a:gd name="T31" fmla="*/ 1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5" h="59">
                  <a:moveTo>
                    <a:pt x="0" y="17"/>
                  </a:moveTo>
                  <a:cubicBezTo>
                    <a:pt x="0" y="14"/>
                    <a:pt x="0" y="12"/>
                    <a:pt x="1" y="11"/>
                  </a:cubicBezTo>
                  <a:cubicBezTo>
                    <a:pt x="2" y="9"/>
                    <a:pt x="3" y="8"/>
                    <a:pt x="4" y="6"/>
                  </a:cubicBezTo>
                  <a:cubicBezTo>
                    <a:pt x="6" y="5"/>
                    <a:pt x="7" y="4"/>
                    <a:pt x="7" y="4"/>
                  </a:cubicBezTo>
                  <a:cubicBezTo>
                    <a:pt x="9" y="2"/>
                    <a:pt x="12" y="1"/>
                    <a:pt x="14" y="0"/>
                  </a:cubicBezTo>
                  <a:cubicBezTo>
                    <a:pt x="17" y="0"/>
                    <a:pt x="20" y="1"/>
                    <a:pt x="23" y="3"/>
                  </a:cubicBezTo>
                  <a:cubicBezTo>
                    <a:pt x="26" y="4"/>
                    <a:pt x="29" y="7"/>
                    <a:pt x="31" y="1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48" y="31"/>
                    <a:pt x="48" y="31"/>
                    <a:pt x="48" y="31"/>
                  </a:cubicBezTo>
                  <a:cubicBezTo>
                    <a:pt x="52" y="36"/>
                    <a:pt x="54" y="40"/>
                    <a:pt x="55" y="43"/>
                  </a:cubicBezTo>
                  <a:cubicBezTo>
                    <a:pt x="55" y="47"/>
                    <a:pt x="54" y="52"/>
                    <a:pt x="49" y="55"/>
                  </a:cubicBezTo>
                  <a:cubicBezTo>
                    <a:pt x="45" y="58"/>
                    <a:pt x="41" y="59"/>
                    <a:pt x="38" y="59"/>
                  </a:cubicBezTo>
                  <a:cubicBezTo>
                    <a:pt x="37" y="59"/>
                    <a:pt x="35" y="59"/>
                    <a:pt x="33" y="58"/>
                  </a:cubicBezTo>
                  <a:cubicBezTo>
                    <a:pt x="31" y="57"/>
                    <a:pt x="29" y="55"/>
                    <a:pt x="26" y="53"/>
                  </a:cubicBezTo>
                  <a:cubicBezTo>
                    <a:pt x="23" y="50"/>
                    <a:pt x="5" y="27"/>
                    <a:pt x="5" y="27"/>
                  </a:cubicBezTo>
                  <a:cubicBezTo>
                    <a:pt x="2" y="23"/>
                    <a:pt x="0" y="19"/>
                    <a:pt x="0" y="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</p:grp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DA580597-9796-49CC-B44C-8A1BDF531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40238" y="0"/>
            <a:ext cx="5751762" cy="6858000"/>
          </a:xfrm>
          <a:custGeom>
            <a:avLst/>
            <a:gdLst>
              <a:gd name="connsiteX0" fmla="*/ 27230 w 5751762"/>
              <a:gd name="connsiteY0" fmla="*/ 0 h 6858000"/>
              <a:gd name="connsiteX1" fmla="*/ 5751762 w 5751762"/>
              <a:gd name="connsiteY1" fmla="*/ 0 h 6858000"/>
              <a:gd name="connsiteX2" fmla="*/ 5751762 w 5751762"/>
              <a:gd name="connsiteY2" fmla="*/ 6858000 h 6858000"/>
              <a:gd name="connsiteX3" fmla="*/ 41303 w 5751762"/>
              <a:gd name="connsiteY3" fmla="*/ 6858000 h 6858000"/>
              <a:gd name="connsiteX4" fmla="*/ 41303 w 5751762"/>
              <a:gd name="connsiteY4" fmla="*/ 6822879 h 6858000"/>
              <a:gd name="connsiteX5" fmla="*/ 41303 w 5751762"/>
              <a:gd name="connsiteY5" fmla="*/ 6667752 h 6858000"/>
              <a:gd name="connsiteX6" fmla="*/ 0 w 5751762"/>
              <a:gd name="connsiteY6" fmla="*/ 3813425 h 6858000"/>
              <a:gd name="connsiteX7" fmla="*/ 41303 w 5751762"/>
              <a:gd name="connsiteY7" fmla="*/ 2572413 h 6858000"/>
              <a:gd name="connsiteX8" fmla="*/ 41303 w 5751762"/>
              <a:gd name="connsiteY8" fmla="*/ 1496869 h 6858000"/>
              <a:gd name="connsiteX9" fmla="*/ 41303 w 5751762"/>
              <a:gd name="connsiteY9" fmla="*/ 1083199 h 6858000"/>
              <a:gd name="connsiteX10" fmla="*/ 0 w 5751762"/>
              <a:gd name="connsiteY10" fmla="*/ 545427 h 6858000"/>
              <a:gd name="connsiteX11" fmla="*/ 22154 w 5751762"/>
              <a:gd name="connsiteY11" fmla="*/ 10166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751762" h="6858000">
                <a:moveTo>
                  <a:pt x="27230" y="0"/>
                </a:moveTo>
                <a:lnTo>
                  <a:pt x="5751762" y="0"/>
                </a:lnTo>
                <a:lnTo>
                  <a:pt x="5751762" y="6858000"/>
                </a:lnTo>
                <a:lnTo>
                  <a:pt x="41303" y="6858000"/>
                </a:lnTo>
                <a:lnTo>
                  <a:pt x="41303" y="6822879"/>
                </a:lnTo>
                <a:cubicBezTo>
                  <a:pt x="41303" y="6760828"/>
                  <a:pt x="41303" y="6709119"/>
                  <a:pt x="41303" y="6667752"/>
                </a:cubicBezTo>
                <a:cubicBezTo>
                  <a:pt x="41303" y="6667752"/>
                  <a:pt x="41303" y="6667752"/>
                  <a:pt x="0" y="3813425"/>
                </a:cubicBezTo>
                <a:cubicBezTo>
                  <a:pt x="0" y="3813425"/>
                  <a:pt x="0" y="3813425"/>
                  <a:pt x="41303" y="2572413"/>
                </a:cubicBezTo>
                <a:cubicBezTo>
                  <a:pt x="41303" y="2572413"/>
                  <a:pt x="41303" y="2572413"/>
                  <a:pt x="41303" y="1496869"/>
                </a:cubicBezTo>
                <a:cubicBezTo>
                  <a:pt x="41303" y="1455502"/>
                  <a:pt x="41303" y="1290034"/>
                  <a:pt x="41303" y="1083199"/>
                </a:cubicBezTo>
                <a:cubicBezTo>
                  <a:pt x="41303" y="876364"/>
                  <a:pt x="0" y="710895"/>
                  <a:pt x="0" y="545427"/>
                </a:cubicBezTo>
                <a:cubicBezTo>
                  <a:pt x="0" y="545427"/>
                  <a:pt x="0" y="545427"/>
                  <a:pt x="22154" y="101661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350A0FF9-9FD9-89D7-AD72-D0D2225A1B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212611"/>
              </p:ext>
            </p:extLst>
          </p:nvPr>
        </p:nvGraphicFramePr>
        <p:xfrm>
          <a:off x="7150094" y="724332"/>
          <a:ext cx="4293944" cy="5409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14317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9FD96-B0BA-79E2-FC19-C5BE224D3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Challenges and Solutions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14E99D-D1E4-2001-B7C6-5208F26AD5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1945" y="1651818"/>
            <a:ext cx="5003801" cy="5102942"/>
          </a:xfrm>
        </p:spPr>
        <p:txBody>
          <a:bodyPr>
            <a:normAutofit fontScale="32500" lnSpcReduction="20000"/>
          </a:bodyPr>
          <a:lstStyle/>
          <a:p>
            <a:r>
              <a:rPr lang="en-US" sz="5500" b="1" dirty="0">
                <a:latin typeface="Arial" panose="020B0604020202020204" pitchFamily="34" charset="0"/>
                <a:cs typeface="Arial" panose="020B0604020202020204" pitchFamily="34" charset="0"/>
              </a:rPr>
              <a:t>Challenge: </a:t>
            </a:r>
            <a:r>
              <a:rPr lang="en-US" sz="5500" dirty="0">
                <a:latin typeface="Arial" panose="020B0604020202020204" pitchFamily="34" charset="0"/>
                <a:cs typeface="Arial" panose="020B0604020202020204" pitchFamily="34" charset="0"/>
              </a:rPr>
              <a:t>Missing values in key metrics (Ad Spend, Engagement Rate, Conversion Rate).</a:t>
            </a:r>
          </a:p>
          <a:p>
            <a:r>
              <a:rPr lang="en-US" sz="5500" b="1" dirty="0">
                <a:latin typeface="Arial" panose="020B0604020202020204" pitchFamily="34" charset="0"/>
                <a:cs typeface="Arial" panose="020B0604020202020204" pitchFamily="34" charset="0"/>
              </a:rPr>
              <a:t>Challenge:</a:t>
            </a:r>
            <a:r>
              <a:rPr lang="en-US" sz="5500" dirty="0">
                <a:latin typeface="Arial" panose="020B0604020202020204" pitchFamily="34" charset="0"/>
                <a:cs typeface="Arial" panose="020B0604020202020204" pitchFamily="34" charset="0"/>
              </a:rPr>
              <a:t> Duplicate records in engagement and ad spend data.</a:t>
            </a:r>
          </a:p>
          <a:p>
            <a:r>
              <a:rPr lang="en-US" sz="5500" b="1" dirty="0">
                <a:latin typeface="Arial" panose="020B0604020202020204" pitchFamily="34" charset="0"/>
                <a:cs typeface="Arial" panose="020B0604020202020204" pitchFamily="34" charset="0"/>
              </a:rPr>
              <a:t>Challenge: </a:t>
            </a:r>
            <a:r>
              <a:rPr lang="en-US" sz="5500" dirty="0">
                <a:latin typeface="Arial" panose="020B0604020202020204" pitchFamily="34" charset="0"/>
                <a:cs typeface="Arial" panose="020B0604020202020204" pitchFamily="34" charset="0"/>
              </a:rPr>
              <a:t>Missing ROI, Cost Per Conversion, and Engagement Per Dollar metrics.</a:t>
            </a:r>
          </a:p>
          <a:p>
            <a:r>
              <a:rPr lang="en-US" sz="5500" b="1" dirty="0">
                <a:latin typeface="Arial" panose="020B0604020202020204" pitchFamily="34" charset="0"/>
                <a:cs typeface="Arial" panose="020B0604020202020204" pitchFamily="34" charset="0"/>
              </a:rPr>
              <a:t>Challenge: </a:t>
            </a:r>
            <a:r>
              <a:rPr lang="en-US" sz="5500" dirty="0">
                <a:latin typeface="Arial" panose="020B0604020202020204" pitchFamily="34" charset="0"/>
                <a:cs typeface="Arial" panose="020B0604020202020204" pitchFamily="34" charset="0"/>
              </a:rPr>
              <a:t>Confusing x-axis behavior when enabling drill-downs.</a:t>
            </a:r>
          </a:p>
          <a:p>
            <a:r>
              <a:rPr lang="en-US" sz="5500" b="1" dirty="0">
                <a:latin typeface="Arial" panose="020B0604020202020204" pitchFamily="34" charset="0"/>
                <a:cs typeface="Arial" panose="020B0604020202020204" pitchFamily="34" charset="0"/>
              </a:rPr>
              <a:t>Challenge: </a:t>
            </a:r>
            <a:r>
              <a:rPr lang="en-US" sz="5500" dirty="0">
                <a:latin typeface="Arial" panose="020B0604020202020204" pitchFamily="34" charset="0"/>
                <a:cs typeface="Arial" panose="020B0604020202020204" pitchFamily="34" charset="0"/>
              </a:rPr>
              <a:t>Overloaded visuals made navigation difficult.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F0C9595-DD67-08DB-9626-4586728488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04174" y="1651819"/>
            <a:ext cx="5003801" cy="5102941"/>
          </a:xfrm>
        </p:spPr>
        <p:txBody>
          <a:bodyPr>
            <a:normAutofit fontScale="32500" lnSpcReduction="20000"/>
          </a:bodyPr>
          <a:lstStyle/>
          <a:p>
            <a:r>
              <a:rPr lang="en-US" sz="5500" b="1" dirty="0">
                <a:latin typeface="Arial" panose="020B0604020202020204" pitchFamily="34" charset="0"/>
                <a:cs typeface="Arial" panose="020B0604020202020204" pitchFamily="34" charset="0"/>
              </a:rPr>
              <a:t>Solution: </a:t>
            </a:r>
            <a:r>
              <a:rPr lang="en-US" sz="5500" dirty="0">
                <a:latin typeface="Arial" panose="020B0604020202020204" pitchFamily="34" charset="0"/>
                <a:cs typeface="Arial" panose="020B0604020202020204" pitchFamily="34" charset="0"/>
              </a:rPr>
              <a:t>Used Power Query Editor, applied mean/median imputation, and removed excessive missing data.</a:t>
            </a:r>
          </a:p>
          <a:p>
            <a:r>
              <a:rPr lang="en-US" sz="5500" b="1" dirty="0">
                <a:latin typeface="Arial" panose="020B0604020202020204" pitchFamily="34" charset="0"/>
                <a:cs typeface="Arial" panose="020B0604020202020204" pitchFamily="34" charset="0"/>
              </a:rPr>
              <a:t>Solution: </a:t>
            </a:r>
            <a:r>
              <a:rPr lang="en-US" sz="5500" dirty="0">
                <a:latin typeface="Arial" panose="020B0604020202020204" pitchFamily="34" charset="0"/>
                <a:cs typeface="Arial" panose="020B0604020202020204" pitchFamily="34" charset="0"/>
              </a:rPr>
              <a:t>Used "Remove Duplicates" in Power BI and created unique identifiers.</a:t>
            </a:r>
          </a:p>
          <a:p>
            <a:r>
              <a:rPr lang="en-US" sz="5500" b="1" dirty="0">
                <a:latin typeface="Arial" panose="020B0604020202020204" pitchFamily="34" charset="0"/>
                <a:cs typeface="Arial" panose="020B0604020202020204" pitchFamily="34" charset="0"/>
              </a:rPr>
              <a:t>Solution: </a:t>
            </a:r>
            <a:r>
              <a:rPr lang="en-US" sz="5500" dirty="0">
                <a:latin typeface="Arial" panose="020B0604020202020204" pitchFamily="34" charset="0"/>
                <a:cs typeface="Arial" panose="020B0604020202020204" pitchFamily="34" charset="0"/>
              </a:rPr>
              <a:t>Developed custom DAX formulas for meaningful analysis.</a:t>
            </a:r>
          </a:p>
          <a:p>
            <a:r>
              <a:rPr lang="en-US" sz="5500" b="1" dirty="0">
                <a:latin typeface="Arial" panose="020B0604020202020204" pitchFamily="34" charset="0"/>
                <a:cs typeface="Arial" panose="020B0604020202020204" pitchFamily="34" charset="0"/>
              </a:rPr>
              <a:t>Solution: </a:t>
            </a:r>
            <a:r>
              <a:rPr lang="en-US" sz="5500" dirty="0">
                <a:latin typeface="Arial" panose="020B0604020202020204" pitchFamily="34" charset="0"/>
                <a:cs typeface="Arial" panose="020B0604020202020204" pitchFamily="34" charset="0"/>
              </a:rPr>
              <a:t>Adjusted hierarchy structure &amp; slicer settings for smooth transitions.</a:t>
            </a:r>
          </a:p>
          <a:p>
            <a:r>
              <a:rPr lang="en-US" sz="5500" b="1" dirty="0">
                <a:latin typeface="Arial" panose="020B0604020202020204" pitchFamily="34" charset="0"/>
                <a:cs typeface="Arial" panose="020B0604020202020204" pitchFamily="34" charset="0"/>
              </a:rPr>
              <a:t>Solution: </a:t>
            </a:r>
            <a:r>
              <a:rPr lang="en-US" sz="5500" dirty="0">
                <a:latin typeface="Arial" panose="020B0604020202020204" pitchFamily="34" charset="0"/>
                <a:cs typeface="Arial" panose="020B0604020202020204" pitchFamily="34" charset="0"/>
              </a:rPr>
              <a:t>Structured sections, used color coding, and added contextual insights.</a:t>
            </a:r>
          </a:p>
          <a:p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589CA6B-695D-7BCD-94D8-3B374F0DE194}"/>
              </a:ext>
            </a:extLst>
          </p:cNvPr>
          <p:cNvCxnSpPr/>
          <p:nvPr/>
        </p:nvCxnSpPr>
        <p:spPr>
          <a:xfrm>
            <a:off x="5648632" y="1932039"/>
            <a:ext cx="10555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4599D0-0A63-1D35-28C5-773BE5EA37AE}"/>
              </a:ext>
            </a:extLst>
          </p:cNvPr>
          <p:cNvCxnSpPr/>
          <p:nvPr/>
        </p:nvCxnSpPr>
        <p:spPr>
          <a:xfrm>
            <a:off x="5505746" y="2713703"/>
            <a:ext cx="10130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06241B3-81A5-15B6-32E5-B8547A71EF23}"/>
              </a:ext>
            </a:extLst>
          </p:cNvPr>
          <p:cNvCxnSpPr/>
          <p:nvPr/>
        </p:nvCxnSpPr>
        <p:spPr>
          <a:xfrm>
            <a:off x="5505746" y="3429000"/>
            <a:ext cx="8950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28EA76D-2045-3239-7734-25C27FAFDECB}"/>
              </a:ext>
            </a:extLst>
          </p:cNvPr>
          <p:cNvCxnSpPr/>
          <p:nvPr/>
        </p:nvCxnSpPr>
        <p:spPr>
          <a:xfrm>
            <a:off x="5648632" y="4321277"/>
            <a:ext cx="870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3354E94-1ED1-3A44-BA7E-CF2DFF1E335A}"/>
              </a:ext>
            </a:extLst>
          </p:cNvPr>
          <p:cNvCxnSpPr/>
          <p:nvPr/>
        </p:nvCxnSpPr>
        <p:spPr>
          <a:xfrm>
            <a:off x="5648632" y="5073445"/>
            <a:ext cx="870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4688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F4F91-5CB9-C9CC-D52D-781D2DF20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More Challenges and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31B3E-F34E-9644-C235-8B61AFDCEA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000" y="1814052"/>
            <a:ext cx="5003800" cy="3962123"/>
          </a:xfrm>
        </p:spPr>
        <p:txBody>
          <a:bodyPr>
            <a:no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Challenge: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Filters affected unrelated visuals, causing inconsistencies.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Challenge: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KPI cards did not update dynamically with filters.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Challenge: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Variability in engagement &amp; conversion rates made analysis inconsistent.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Challenge: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Extreme ROI and engagement values distorted results.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Challenge: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Too many charts reduced clarity.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F54909-F75E-C7E3-2ABD-8E27E314FA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68199" y="1811712"/>
            <a:ext cx="5003801" cy="3234576"/>
          </a:xfrm>
        </p:spPr>
        <p:txBody>
          <a:bodyPr>
            <a:no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Solution: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Used Power BI’s "Edit Interactions" to refine slicer control.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Solution: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Linked KPI cards to slicers &amp; conditional formatting.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Solution: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Used drill-downs &amp; slicers for platform-specific insights.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Solution: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Applied trend analysis using scatter plots.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Solution: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Used appropriate chart types (bar, pie, scatter, line), white space, and intuitive labels.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916AD27-584A-3454-E0A1-AF3E9520162E}"/>
              </a:ext>
            </a:extLst>
          </p:cNvPr>
          <p:cNvCxnSpPr/>
          <p:nvPr/>
        </p:nvCxnSpPr>
        <p:spPr>
          <a:xfrm>
            <a:off x="5427406" y="2300748"/>
            <a:ext cx="8849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2D810C8-2152-FDC1-F8B9-330DD3A938BD}"/>
              </a:ext>
            </a:extLst>
          </p:cNvPr>
          <p:cNvCxnSpPr/>
          <p:nvPr/>
        </p:nvCxnSpPr>
        <p:spPr>
          <a:xfrm>
            <a:off x="5397910" y="3141406"/>
            <a:ext cx="8849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1C5594D-9349-7BF0-D3DE-5BEE9D899631}"/>
              </a:ext>
            </a:extLst>
          </p:cNvPr>
          <p:cNvCxnSpPr/>
          <p:nvPr/>
        </p:nvCxnSpPr>
        <p:spPr>
          <a:xfrm>
            <a:off x="5427406" y="4070555"/>
            <a:ext cx="8849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EE3AC10-A88E-220B-84D5-0FAEF437E3C5}"/>
              </a:ext>
            </a:extLst>
          </p:cNvPr>
          <p:cNvCxnSpPr/>
          <p:nvPr/>
        </p:nvCxnSpPr>
        <p:spPr>
          <a:xfrm>
            <a:off x="4881716" y="4940710"/>
            <a:ext cx="14010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A09DD29-FA7A-3E73-1F0F-2F46653F67B7}"/>
              </a:ext>
            </a:extLst>
          </p:cNvPr>
          <p:cNvCxnSpPr/>
          <p:nvPr/>
        </p:nvCxnSpPr>
        <p:spPr>
          <a:xfrm>
            <a:off x="5191432" y="6046839"/>
            <a:ext cx="11208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04716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EAE49-3BF7-7753-7281-CABCC38C7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Conclusions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D5972F9-6F5D-8926-101C-3EBAEB8048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54" y="1866799"/>
            <a:ext cx="5003800" cy="4569064"/>
          </a:xfrm>
        </p:spPr>
        <p:txBody>
          <a:bodyPr>
            <a:normAutofit fontScale="55000" lnSpcReduction="20000"/>
          </a:bodyPr>
          <a:lstStyle/>
          <a:p>
            <a:r>
              <a:rPr lang="en-US" sz="3300" b="1" dirty="0">
                <a:latin typeface="Arial" panose="020B0604020202020204" pitchFamily="34" charset="0"/>
                <a:cs typeface="Arial" panose="020B0604020202020204" pitchFamily="34" charset="0"/>
              </a:rPr>
              <a:t>Platform Engagement Strategies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 Prioritize Twitter and Instagram for high interaction.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 LinkedIn is ideal for professional material. 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3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300" b="1" dirty="0">
                <a:latin typeface="Arial" panose="020B0604020202020204" pitchFamily="34" charset="0"/>
                <a:cs typeface="Arial" panose="020B0604020202020204" pitchFamily="34" charset="0"/>
              </a:rPr>
              <a:t>ROI and Ad Spend Optimization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 Invest in Facebook and Twitter ads for a higher ROI.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 Optimize TikTok ad targeting to increase interaction.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 To maximize profits, keep your ad budget under $400.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6C27FBF-6AA7-C829-CD33-01D999AAD4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11650" y="1031619"/>
            <a:ext cx="6234544" cy="3234576"/>
          </a:xfrm>
        </p:spPr>
        <p:txBody>
          <a:bodyPr>
            <a:noAutofit/>
          </a:bodyPr>
          <a:lstStyle/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Conversion and Audience Growth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TikTok, Instagram, and Facebook generate the most conversions.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Post 3-5 times each week to maximize follower growth.</a:t>
            </a:r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Budget Allocation and Cost Efficiency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Spend less than $100 each ad for the highest engagement per dollar.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Reallocate budget from underperforming platforms.</a:t>
            </a:r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Data-Driven Decision Making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Use drill-down analysis and KPI tracking to gain insights.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Optimize conversion tracking to prevent errors.</a:t>
            </a:r>
          </a:p>
        </p:txBody>
      </p:sp>
    </p:spTree>
    <p:extLst>
      <p:ext uri="{BB962C8B-B14F-4D97-AF65-F5344CB8AC3E}">
        <p14:creationId xmlns:p14="http://schemas.microsoft.com/office/powerpoint/2010/main" val="26562665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39597D0-1A1C-5DA9-D8E9-A677231ED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9" y="309484"/>
            <a:ext cx="10728322" cy="1477328"/>
          </a:xfrm>
        </p:spPr>
        <p:txBody>
          <a:bodyPr/>
          <a:lstStyle/>
          <a:p>
            <a:r>
              <a:rPr lang="en-US" b="1" u="sng" dirty="0"/>
              <a:t>Recommendations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3B96E62-F99D-5BE5-EA3B-D924024EC3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7851" y="1048148"/>
            <a:ext cx="6933543" cy="5161935"/>
          </a:xfrm>
        </p:spPr>
        <p:txBody>
          <a:bodyPr>
            <a:noAutofit/>
          </a:bodyPr>
          <a:lstStyle/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Social Media Marketing Strategies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Businesses should prioritize content channels that generate high interaction.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Optimize publishing frequency to keep the audience interested.</a:t>
            </a: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Ad Campaign Optimization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Allocating money to top-performing platforms can help you maximize your ROI.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Use data-driven insights to improve your targeting methods.</a:t>
            </a: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Cost-effective digital advertising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Maintain expenditure within the ideal ranges for ad efficiency.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Adjust ad spending dynamically based on KPI performance.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5DF210F-6DE2-A6D0-63EA-2D010B2164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47935" y="1048148"/>
            <a:ext cx="4486214" cy="3234576"/>
          </a:xfrm>
        </p:spPr>
        <p:txBody>
          <a:bodyPr>
            <a:noAutofit/>
          </a:bodyPr>
          <a:lstStyle/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Enhanced Audience Analytics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Track engagement trends to optimize user interaction.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Use drill-down features to analyze performance by platform.</a:t>
            </a: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Business Decision Making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TikTok and Instagram can help e-commerce firms improve conversion rates.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B2B organizations can use LinkedIn to expand their professional reach.</a:t>
            </a:r>
          </a:p>
        </p:txBody>
      </p:sp>
    </p:spTree>
    <p:extLst>
      <p:ext uri="{BB962C8B-B14F-4D97-AF65-F5344CB8AC3E}">
        <p14:creationId xmlns:p14="http://schemas.microsoft.com/office/powerpoint/2010/main" val="20822960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690F001-2D75-4EFE-805F-3E6954B75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6F7DA8-FD92-4ACF-9932-BF007E32A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4F76F7D6-E5D2-44FA-B1FA-A1A61DF18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0554709" cy="6858000"/>
          </a:xfrm>
          <a:custGeom>
            <a:avLst/>
            <a:gdLst>
              <a:gd name="connsiteX0" fmla="*/ 678080 w 10554709"/>
              <a:gd name="connsiteY0" fmla="*/ 0 h 6858000"/>
              <a:gd name="connsiteX1" fmla="*/ 8939948 w 10554709"/>
              <a:gd name="connsiteY1" fmla="*/ 0 h 6858000"/>
              <a:gd name="connsiteX2" fmla="*/ 9088366 w 10554709"/>
              <a:gd name="connsiteY2" fmla="*/ 139640 h 6858000"/>
              <a:gd name="connsiteX3" fmla="*/ 10554709 w 10554709"/>
              <a:gd name="connsiteY3" fmla="*/ 3680162 h 6858000"/>
              <a:gd name="connsiteX4" fmla="*/ 9852869 w 10554709"/>
              <a:gd name="connsiteY4" fmla="*/ 6618597 h 6858000"/>
              <a:gd name="connsiteX5" fmla="*/ 9732509 w 10554709"/>
              <a:gd name="connsiteY5" fmla="*/ 6858000 h 6858000"/>
              <a:gd name="connsiteX6" fmla="*/ 0 w 10554709"/>
              <a:gd name="connsiteY6" fmla="*/ 6858000 h 6858000"/>
              <a:gd name="connsiteX7" fmla="*/ 0 w 10554709"/>
              <a:gd name="connsiteY7" fmla="*/ 893015 h 6858000"/>
              <a:gd name="connsiteX8" fmla="*/ 32877 w 10554709"/>
              <a:gd name="connsiteY8" fmla="*/ 837948 h 6858000"/>
              <a:gd name="connsiteX9" fmla="*/ 408715 w 10554709"/>
              <a:gd name="connsiteY9" fmla="*/ 30770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554709" h="6858000">
                <a:moveTo>
                  <a:pt x="678080" y="0"/>
                </a:moveTo>
                <a:lnTo>
                  <a:pt x="8939948" y="0"/>
                </a:lnTo>
                <a:lnTo>
                  <a:pt x="9088366" y="139640"/>
                </a:lnTo>
                <a:cubicBezTo>
                  <a:pt x="10103527" y="1150771"/>
                  <a:pt x="10554709" y="2302771"/>
                  <a:pt x="10554709" y="3680162"/>
                </a:cubicBezTo>
                <a:cubicBezTo>
                  <a:pt x="10554709" y="4782075"/>
                  <a:pt x="10354183" y="5717032"/>
                  <a:pt x="9852869" y="6618597"/>
                </a:cubicBezTo>
                <a:lnTo>
                  <a:pt x="9732509" y="6858000"/>
                </a:lnTo>
                <a:lnTo>
                  <a:pt x="0" y="6858000"/>
                </a:lnTo>
                <a:lnTo>
                  <a:pt x="0" y="893015"/>
                </a:lnTo>
                <a:lnTo>
                  <a:pt x="32877" y="837948"/>
                </a:lnTo>
                <a:cubicBezTo>
                  <a:pt x="149932" y="650048"/>
                  <a:pt x="274183" y="474695"/>
                  <a:pt x="408715" y="307706"/>
                </a:cubicBez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082FCA-1D0E-2F26-29E1-7A864BFAAC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0000" y="720000"/>
            <a:ext cx="6911974" cy="2803071"/>
          </a:xfrm>
        </p:spPr>
        <p:txBody>
          <a:bodyPr>
            <a:normAutofit/>
          </a:bodyPr>
          <a:lstStyle/>
          <a:p>
            <a:r>
              <a:rPr lang="en-US" sz="6600" dirty="0"/>
              <a:t>Thank you</a:t>
            </a:r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671E2FB4-7344-4400-973C-C4E1D46C1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4500000">
            <a:off x="9006897" y="392628"/>
            <a:ext cx="3095625" cy="2897543"/>
          </a:xfrm>
          <a:custGeom>
            <a:avLst/>
            <a:gdLst>
              <a:gd name="T0" fmla="*/ 43 w 250"/>
              <a:gd name="T1" fmla="*/ 167 h 234"/>
              <a:gd name="T2" fmla="*/ 70 w 250"/>
              <a:gd name="T3" fmla="*/ 133 h 234"/>
              <a:gd name="T4" fmla="*/ 48 w 250"/>
              <a:gd name="T5" fmla="*/ 134 h 234"/>
              <a:gd name="T6" fmla="*/ 19 w 250"/>
              <a:gd name="T7" fmla="*/ 130 h 234"/>
              <a:gd name="T8" fmla="*/ 6 w 250"/>
              <a:gd name="T9" fmla="*/ 123 h 234"/>
              <a:gd name="T10" fmla="*/ 1 w 250"/>
              <a:gd name="T11" fmla="*/ 103 h 234"/>
              <a:gd name="T12" fmla="*/ 11 w 250"/>
              <a:gd name="T13" fmla="*/ 81 h 234"/>
              <a:gd name="T14" fmla="*/ 23 w 250"/>
              <a:gd name="T15" fmla="*/ 76 h 234"/>
              <a:gd name="T16" fmla="*/ 81 w 250"/>
              <a:gd name="T17" fmla="*/ 78 h 234"/>
              <a:gd name="T18" fmla="*/ 65 w 250"/>
              <a:gd name="T19" fmla="*/ 49 h 234"/>
              <a:gd name="T20" fmla="*/ 57 w 250"/>
              <a:gd name="T21" fmla="*/ 27 h 234"/>
              <a:gd name="T22" fmla="*/ 67 w 250"/>
              <a:gd name="T23" fmla="*/ 12 h 234"/>
              <a:gd name="T24" fmla="*/ 85 w 250"/>
              <a:gd name="T25" fmla="*/ 1 h 234"/>
              <a:gd name="T26" fmla="*/ 101 w 250"/>
              <a:gd name="T27" fmla="*/ 8 h 234"/>
              <a:gd name="T28" fmla="*/ 107 w 250"/>
              <a:gd name="T29" fmla="*/ 15 h 234"/>
              <a:gd name="T30" fmla="*/ 120 w 250"/>
              <a:gd name="T31" fmla="*/ 37 h 234"/>
              <a:gd name="T32" fmla="*/ 131 w 250"/>
              <a:gd name="T33" fmla="*/ 60 h 234"/>
              <a:gd name="T34" fmla="*/ 164 w 250"/>
              <a:gd name="T35" fmla="*/ 25 h 234"/>
              <a:gd name="T36" fmla="*/ 187 w 250"/>
              <a:gd name="T37" fmla="*/ 11 h 234"/>
              <a:gd name="T38" fmla="*/ 205 w 250"/>
              <a:gd name="T39" fmla="*/ 19 h 234"/>
              <a:gd name="T40" fmla="*/ 214 w 250"/>
              <a:gd name="T41" fmla="*/ 34 h 234"/>
              <a:gd name="T42" fmla="*/ 203 w 250"/>
              <a:gd name="T43" fmla="*/ 57 h 234"/>
              <a:gd name="T44" fmla="*/ 166 w 250"/>
              <a:gd name="T45" fmla="*/ 100 h 234"/>
              <a:gd name="T46" fmla="*/ 217 w 250"/>
              <a:gd name="T47" fmla="*/ 98 h 234"/>
              <a:gd name="T48" fmla="*/ 244 w 250"/>
              <a:gd name="T49" fmla="*/ 104 h 234"/>
              <a:gd name="T50" fmla="*/ 249 w 250"/>
              <a:gd name="T51" fmla="*/ 115 h 234"/>
              <a:gd name="T52" fmla="*/ 247 w 250"/>
              <a:gd name="T53" fmla="*/ 129 h 234"/>
              <a:gd name="T54" fmla="*/ 245 w 250"/>
              <a:gd name="T55" fmla="*/ 134 h 234"/>
              <a:gd name="T56" fmla="*/ 241 w 250"/>
              <a:gd name="T57" fmla="*/ 141 h 234"/>
              <a:gd name="T58" fmla="*/ 227 w 250"/>
              <a:gd name="T59" fmla="*/ 147 h 234"/>
              <a:gd name="T60" fmla="*/ 187 w 250"/>
              <a:gd name="T61" fmla="*/ 151 h 234"/>
              <a:gd name="T62" fmla="*/ 160 w 250"/>
              <a:gd name="T63" fmla="*/ 148 h 234"/>
              <a:gd name="T64" fmla="*/ 168 w 250"/>
              <a:gd name="T65" fmla="*/ 168 h 234"/>
              <a:gd name="T66" fmla="*/ 176 w 250"/>
              <a:gd name="T67" fmla="*/ 194 h 234"/>
              <a:gd name="T68" fmla="*/ 176 w 250"/>
              <a:gd name="T69" fmla="*/ 211 h 234"/>
              <a:gd name="T70" fmla="*/ 170 w 250"/>
              <a:gd name="T71" fmla="*/ 221 h 234"/>
              <a:gd name="T72" fmla="*/ 156 w 250"/>
              <a:gd name="T73" fmla="*/ 230 h 234"/>
              <a:gd name="T74" fmla="*/ 130 w 250"/>
              <a:gd name="T75" fmla="*/ 226 h 234"/>
              <a:gd name="T76" fmla="*/ 122 w 250"/>
              <a:gd name="T77" fmla="*/ 213 h 234"/>
              <a:gd name="T78" fmla="*/ 110 w 250"/>
              <a:gd name="T79" fmla="*/ 169 h 234"/>
              <a:gd name="T80" fmla="*/ 92 w 250"/>
              <a:gd name="T81" fmla="*/ 192 h 234"/>
              <a:gd name="T82" fmla="*/ 87 w 250"/>
              <a:gd name="T83" fmla="*/ 197 h 234"/>
              <a:gd name="T84" fmla="*/ 84 w 250"/>
              <a:gd name="T85" fmla="*/ 201 h 234"/>
              <a:gd name="T86" fmla="*/ 65 w 250"/>
              <a:gd name="T87" fmla="*/ 212 h 234"/>
              <a:gd name="T88" fmla="*/ 50 w 250"/>
              <a:gd name="T89" fmla="*/ 204 h 234"/>
              <a:gd name="T90" fmla="*/ 44 w 250"/>
              <a:gd name="T91" fmla="*/ 198 h 234"/>
              <a:gd name="T92" fmla="*/ 38 w 250"/>
              <a:gd name="T93" fmla="*/ 185 h 234"/>
              <a:gd name="T94" fmla="*/ 43 w 250"/>
              <a:gd name="T95" fmla="*/ 167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50" h="234">
                <a:moveTo>
                  <a:pt x="43" y="167"/>
                </a:moveTo>
                <a:cubicBezTo>
                  <a:pt x="70" y="133"/>
                  <a:pt x="70" y="133"/>
                  <a:pt x="70" y="133"/>
                </a:cubicBezTo>
                <a:cubicBezTo>
                  <a:pt x="60" y="134"/>
                  <a:pt x="61" y="134"/>
                  <a:pt x="48" y="134"/>
                </a:cubicBezTo>
                <a:cubicBezTo>
                  <a:pt x="34" y="133"/>
                  <a:pt x="24" y="132"/>
                  <a:pt x="19" y="130"/>
                </a:cubicBezTo>
                <a:cubicBezTo>
                  <a:pt x="13" y="128"/>
                  <a:pt x="9" y="126"/>
                  <a:pt x="6" y="123"/>
                </a:cubicBezTo>
                <a:cubicBezTo>
                  <a:pt x="1" y="119"/>
                  <a:pt x="0" y="112"/>
                  <a:pt x="1" y="103"/>
                </a:cubicBezTo>
                <a:cubicBezTo>
                  <a:pt x="2" y="93"/>
                  <a:pt x="6" y="86"/>
                  <a:pt x="11" y="81"/>
                </a:cubicBezTo>
                <a:cubicBezTo>
                  <a:pt x="15" y="77"/>
                  <a:pt x="18" y="76"/>
                  <a:pt x="23" y="76"/>
                </a:cubicBezTo>
                <a:cubicBezTo>
                  <a:pt x="81" y="78"/>
                  <a:pt x="81" y="78"/>
                  <a:pt x="81" y="78"/>
                </a:cubicBezTo>
                <a:cubicBezTo>
                  <a:pt x="65" y="49"/>
                  <a:pt x="65" y="49"/>
                  <a:pt x="65" y="49"/>
                </a:cubicBezTo>
                <a:cubicBezTo>
                  <a:pt x="58" y="40"/>
                  <a:pt x="56" y="33"/>
                  <a:pt x="57" y="27"/>
                </a:cubicBezTo>
                <a:cubicBezTo>
                  <a:pt x="58" y="21"/>
                  <a:pt x="62" y="16"/>
                  <a:pt x="67" y="12"/>
                </a:cubicBezTo>
                <a:cubicBezTo>
                  <a:pt x="74" y="6"/>
                  <a:pt x="80" y="2"/>
                  <a:pt x="85" y="1"/>
                </a:cubicBezTo>
                <a:cubicBezTo>
                  <a:pt x="90" y="0"/>
                  <a:pt x="95" y="2"/>
                  <a:pt x="101" y="8"/>
                </a:cubicBezTo>
                <a:cubicBezTo>
                  <a:pt x="104" y="11"/>
                  <a:pt x="106" y="13"/>
                  <a:pt x="107" y="15"/>
                </a:cubicBezTo>
                <a:cubicBezTo>
                  <a:pt x="110" y="19"/>
                  <a:pt x="112" y="20"/>
                  <a:pt x="120" y="37"/>
                </a:cubicBezTo>
                <a:cubicBezTo>
                  <a:pt x="129" y="55"/>
                  <a:pt x="128" y="51"/>
                  <a:pt x="131" y="60"/>
                </a:cubicBezTo>
                <a:cubicBezTo>
                  <a:pt x="164" y="25"/>
                  <a:pt x="164" y="25"/>
                  <a:pt x="164" y="25"/>
                </a:cubicBezTo>
                <a:cubicBezTo>
                  <a:pt x="173" y="16"/>
                  <a:pt x="180" y="11"/>
                  <a:pt x="187" y="11"/>
                </a:cubicBezTo>
                <a:cubicBezTo>
                  <a:pt x="193" y="10"/>
                  <a:pt x="200" y="13"/>
                  <a:pt x="205" y="19"/>
                </a:cubicBezTo>
                <a:cubicBezTo>
                  <a:pt x="210" y="24"/>
                  <a:pt x="213" y="29"/>
                  <a:pt x="214" y="34"/>
                </a:cubicBezTo>
                <a:cubicBezTo>
                  <a:pt x="214" y="39"/>
                  <a:pt x="211" y="47"/>
                  <a:pt x="203" y="57"/>
                </a:cubicBezTo>
                <a:cubicBezTo>
                  <a:pt x="166" y="100"/>
                  <a:pt x="166" y="100"/>
                  <a:pt x="166" y="100"/>
                </a:cubicBezTo>
                <a:cubicBezTo>
                  <a:pt x="217" y="98"/>
                  <a:pt x="217" y="98"/>
                  <a:pt x="217" y="98"/>
                </a:cubicBezTo>
                <a:cubicBezTo>
                  <a:pt x="229" y="96"/>
                  <a:pt x="238" y="98"/>
                  <a:pt x="244" y="104"/>
                </a:cubicBezTo>
                <a:cubicBezTo>
                  <a:pt x="247" y="107"/>
                  <a:pt x="249" y="111"/>
                  <a:pt x="249" y="115"/>
                </a:cubicBezTo>
                <a:cubicBezTo>
                  <a:pt x="250" y="120"/>
                  <a:pt x="249" y="124"/>
                  <a:pt x="247" y="129"/>
                </a:cubicBezTo>
                <a:cubicBezTo>
                  <a:pt x="247" y="130"/>
                  <a:pt x="246" y="132"/>
                  <a:pt x="245" y="134"/>
                </a:cubicBezTo>
                <a:cubicBezTo>
                  <a:pt x="244" y="137"/>
                  <a:pt x="243" y="140"/>
                  <a:pt x="241" y="141"/>
                </a:cubicBezTo>
                <a:cubicBezTo>
                  <a:pt x="239" y="144"/>
                  <a:pt x="234" y="146"/>
                  <a:pt x="227" y="147"/>
                </a:cubicBezTo>
                <a:cubicBezTo>
                  <a:pt x="221" y="149"/>
                  <a:pt x="207" y="150"/>
                  <a:pt x="187" y="151"/>
                </a:cubicBezTo>
                <a:cubicBezTo>
                  <a:pt x="175" y="152"/>
                  <a:pt x="161" y="148"/>
                  <a:pt x="160" y="148"/>
                </a:cubicBezTo>
                <a:cubicBezTo>
                  <a:pt x="161" y="151"/>
                  <a:pt x="165" y="161"/>
                  <a:pt x="168" y="168"/>
                </a:cubicBezTo>
                <a:cubicBezTo>
                  <a:pt x="168" y="171"/>
                  <a:pt x="173" y="181"/>
                  <a:pt x="176" y="194"/>
                </a:cubicBezTo>
                <a:cubicBezTo>
                  <a:pt x="179" y="206"/>
                  <a:pt x="176" y="203"/>
                  <a:pt x="176" y="211"/>
                </a:cubicBezTo>
                <a:cubicBezTo>
                  <a:pt x="176" y="214"/>
                  <a:pt x="174" y="217"/>
                  <a:pt x="170" y="221"/>
                </a:cubicBezTo>
                <a:cubicBezTo>
                  <a:pt x="166" y="226"/>
                  <a:pt x="161" y="228"/>
                  <a:pt x="156" y="230"/>
                </a:cubicBezTo>
                <a:cubicBezTo>
                  <a:pt x="147" y="234"/>
                  <a:pt x="137" y="233"/>
                  <a:pt x="130" y="226"/>
                </a:cubicBezTo>
                <a:cubicBezTo>
                  <a:pt x="127" y="223"/>
                  <a:pt x="125" y="219"/>
                  <a:pt x="122" y="213"/>
                </a:cubicBezTo>
                <a:cubicBezTo>
                  <a:pt x="118" y="188"/>
                  <a:pt x="117" y="189"/>
                  <a:pt x="110" y="169"/>
                </a:cubicBezTo>
                <a:cubicBezTo>
                  <a:pt x="92" y="192"/>
                  <a:pt x="92" y="192"/>
                  <a:pt x="92" y="192"/>
                </a:cubicBezTo>
                <a:cubicBezTo>
                  <a:pt x="90" y="193"/>
                  <a:pt x="88" y="195"/>
                  <a:pt x="87" y="197"/>
                </a:cubicBezTo>
                <a:cubicBezTo>
                  <a:pt x="86" y="198"/>
                  <a:pt x="85" y="200"/>
                  <a:pt x="84" y="201"/>
                </a:cubicBezTo>
                <a:cubicBezTo>
                  <a:pt x="76" y="209"/>
                  <a:pt x="70" y="212"/>
                  <a:pt x="65" y="212"/>
                </a:cubicBezTo>
                <a:cubicBezTo>
                  <a:pt x="60" y="211"/>
                  <a:pt x="55" y="209"/>
                  <a:pt x="50" y="204"/>
                </a:cubicBezTo>
                <a:cubicBezTo>
                  <a:pt x="50" y="203"/>
                  <a:pt x="48" y="202"/>
                  <a:pt x="44" y="198"/>
                </a:cubicBezTo>
                <a:cubicBezTo>
                  <a:pt x="41" y="195"/>
                  <a:pt x="39" y="191"/>
                  <a:pt x="38" y="185"/>
                </a:cubicBezTo>
                <a:cubicBezTo>
                  <a:pt x="37" y="179"/>
                  <a:pt x="39" y="173"/>
                  <a:pt x="43" y="16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821272"/>
      </p:ext>
    </p:extLst>
  </p:cSld>
  <p:clrMapOvr>
    <a:masterClrMapping/>
  </p:clrMapOvr>
</p:sld>
</file>

<file path=ppt/theme/theme1.xml><?xml version="1.0" encoding="utf-8"?>
<a:theme xmlns:a="http://schemas.openxmlformats.org/drawingml/2006/main" name="BlobVTI">
  <a:themeElements>
    <a:clrScheme name="Blob V2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B495C2"/>
      </a:accent1>
      <a:accent2>
        <a:srgbClr val="767E37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Blob">
      <a:majorFont>
        <a:latin typeface="The Hand Extrablack"/>
        <a:ea typeface=""/>
        <a:cs typeface=""/>
      </a:majorFont>
      <a:minorFont>
        <a:latin typeface="Sagona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bVTI" id="{06D3AACF-B619-4265-899F-5E2FB3A445D5}" vid="{F5918863-BA1A-4735-81A8-3E7BFBDA84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1297</Words>
  <Application>Microsoft Office PowerPoint</Application>
  <PresentationFormat>Widescreen</PresentationFormat>
  <Paragraphs>156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Arial</vt:lpstr>
      <vt:lpstr>Sagona Book</vt:lpstr>
      <vt:lpstr>The Hand Extrablack</vt:lpstr>
      <vt:lpstr>Times New Roman</vt:lpstr>
      <vt:lpstr>Wingdings</vt:lpstr>
      <vt:lpstr>BlobVTI</vt:lpstr>
      <vt:lpstr>Social Media Analytics (Group E)</vt:lpstr>
      <vt:lpstr>Introduction</vt:lpstr>
      <vt:lpstr>Data Integration &amp; Cleaning</vt:lpstr>
      <vt:lpstr>Question 1: Which social media platform has the highest average engagement rate?</vt:lpstr>
      <vt:lpstr>Question 2: Which platform delivers the highest return on investment (ROI) for ad spend? </vt:lpstr>
      <vt:lpstr>PowerPoint Presentation</vt:lpstr>
      <vt:lpstr>Question 3: Which platform has the highest share of total conversions? </vt:lpstr>
      <vt:lpstr>Question 4: How does the number of posts per week impact follower growth? </vt:lpstr>
      <vt:lpstr>Question 5: What is the ROI (Return on Investment) for ad spend per platform? </vt:lpstr>
      <vt:lpstr>Question 6: Which platform has the lowest engagement per dollar spent? </vt:lpstr>
      <vt:lpstr>Question 7: How does engagement rate trend over time across platforms? </vt:lpstr>
      <vt:lpstr>PowerPoint Presentation</vt:lpstr>
      <vt:lpstr>Question 8: Does a Higher Follower Count Correlate with Higher Conversion Rates? </vt:lpstr>
      <vt:lpstr>PowerPoint Presentation</vt:lpstr>
      <vt:lpstr>Question 9: How does ad spend vary between platforms? </vt:lpstr>
      <vt:lpstr>Question 10: Which platform has the best engagement-to-reach ratio?</vt:lpstr>
      <vt:lpstr>PowerPoint Presentation</vt:lpstr>
      <vt:lpstr>Dashboard Functionality &amp; Interactivity</vt:lpstr>
      <vt:lpstr>Challenges and Solutions</vt:lpstr>
      <vt:lpstr>More Challenges and Solutions</vt:lpstr>
      <vt:lpstr>Conclusions</vt:lpstr>
      <vt:lpstr>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Sawaira Niaz</dc:creator>
  <cp:lastModifiedBy>Sawaira Niaz</cp:lastModifiedBy>
  <cp:revision>26</cp:revision>
  <dcterms:created xsi:type="dcterms:W3CDTF">2025-03-16T06:47:26Z</dcterms:created>
  <dcterms:modified xsi:type="dcterms:W3CDTF">2026-01-17T22:47:24Z</dcterms:modified>
</cp:coreProperties>
</file>